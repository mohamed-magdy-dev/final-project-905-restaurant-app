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434059A1-8D1A-45D7-B1CE-A29E6C3E7869}"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685800" y="1143000"/>
            <a:ext cx="5486040" cy="3085920"/>
          </a:xfrm>
          <a:prstGeom prst="rect">
            <a:avLst/>
          </a:prstGeom>
          <a:ln w="0">
            <a:noFill/>
          </a:ln>
        </p:spPr>
      </p:sp>
      <p:sp>
        <p:nvSpPr>
          <p:cNvPr id="2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44"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7415A6E-FD29-4811-8E8D-0192B9358F7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685800" y="1143000"/>
            <a:ext cx="5486040" cy="3085920"/>
          </a:xfrm>
          <a:prstGeom prst="rect">
            <a:avLst/>
          </a:prstGeom>
          <a:ln w="0">
            <a:noFill/>
          </a:ln>
        </p:spPr>
      </p:sp>
      <p:sp>
        <p:nvSpPr>
          <p:cNvPr id="2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47"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BB49A9A-0EB8-44BE-AC69-F97A8F67412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685800" y="1143000"/>
            <a:ext cx="5486040" cy="3085920"/>
          </a:xfrm>
          <a:prstGeom prst="rect">
            <a:avLst/>
          </a:prstGeom>
          <a:ln w="0">
            <a:noFill/>
          </a:ln>
        </p:spPr>
      </p:sp>
      <p:sp>
        <p:nvSpPr>
          <p:cNvPr id="2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50"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BCFE7C2-DB60-4261-B655-D0D71054DD3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Img"/>
          </p:nvPr>
        </p:nvSpPr>
        <p:spPr>
          <a:xfrm>
            <a:off x="685800" y="1143000"/>
            <a:ext cx="5486040" cy="3085920"/>
          </a:xfrm>
          <a:prstGeom prst="rect">
            <a:avLst/>
          </a:prstGeom>
          <a:ln w="0">
            <a:noFill/>
          </a:ln>
        </p:spPr>
      </p:sp>
      <p:sp>
        <p:nvSpPr>
          <p:cNvPr id="2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53"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7A6C03E-B845-4DAF-B8E9-33CCC6FE77C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sldImg"/>
          </p:nvPr>
        </p:nvSpPr>
        <p:spPr>
          <a:xfrm>
            <a:off x="685800" y="1143000"/>
            <a:ext cx="5486040" cy="3085920"/>
          </a:xfrm>
          <a:prstGeom prst="rect">
            <a:avLst/>
          </a:prstGeom>
          <a:ln w="0">
            <a:noFill/>
          </a:ln>
        </p:spPr>
      </p:sp>
      <p:sp>
        <p:nvSpPr>
          <p:cNvPr id="2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56"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579ADEF-6CF2-4D01-AE59-0E4F360A1C9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685800" y="1143000"/>
            <a:ext cx="5486040" cy="3085920"/>
          </a:xfrm>
          <a:prstGeom prst="rect">
            <a:avLst/>
          </a:prstGeom>
          <a:ln w="0">
            <a:noFill/>
          </a:ln>
        </p:spPr>
      </p:sp>
      <p:sp>
        <p:nvSpPr>
          <p:cNvPr id="2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59"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F76EDD0-8DA6-4836-BEC2-2ECCDF1DF55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685800" y="1143000"/>
            <a:ext cx="5486040" cy="3085920"/>
          </a:xfrm>
          <a:prstGeom prst="rect">
            <a:avLst/>
          </a:prstGeom>
          <a:ln w="0">
            <a:noFill/>
          </a:ln>
        </p:spPr>
      </p:sp>
      <p:sp>
        <p:nvSpPr>
          <p:cNvPr id="2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62"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076D5C3-C358-47BD-AC8B-E3D88B36E0D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sldImg"/>
          </p:nvPr>
        </p:nvSpPr>
        <p:spPr>
          <a:xfrm>
            <a:off x="685800" y="1143000"/>
            <a:ext cx="5486040" cy="3085920"/>
          </a:xfrm>
          <a:prstGeom prst="rect">
            <a:avLst/>
          </a:prstGeom>
          <a:ln w="0">
            <a:noFill/>
          </a:ln>
        </p:spPr>
      </p:sp>
      <p:sp>
        <p:nvSpPr>
          <p:cNvPr id="2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65"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886F852-39A3-4B46-8523-F4E1287B167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sldImg"/>
          </p:nvPr>
        </p:nvSpPr>
        <p:spPr>
          <a:xfrm>
            <a:off x="685800" y="1143000"/>
            <a:ext cx="5486040" cy="3085920"/>
          </a:xfrm>
          <a:prstGeom prst="rect">
            <a:avLst/>
          </a:prstGeom>
          <a:ln w="0">
            <a:noFill/>
          </a:ln>
        </p:spPr>
      </p:sp>
      <p:sp>
        <p:nvSpPr>
          <p:cNvPr id="2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68"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B6F5A5D-2A21-4F7B-83C8-31F49BA40D9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sldImg"/>
          </p:nvPr>
        </p:nvSpPr>
        <p:spPr>
          <a:xfrm>
            <a:off x="685800" y="1143000"/>
            <a:ext cx="5486040" cy="3085920"/>
          </a:xfrm>
          <a:prstGeom prst="rect">
            <a:avLst/>
          </a:prstGeom>
          <a:ln w="0">
            <a:noFill/>
          </a:ln>
        </p:spPr>
      </p:sp>
      <p:sp>
        <p:nvSpPr>
          <p:cNvPr id="2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71"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C5C9FA6-59F0-4774-ABD6-A5F521ACDEF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685800" y="1143000"/>
            <a:ext cx="5486040" cy="3085920"/>
          </a:xfrm>
          <a:prstGeom prst="rect">
            <a:avLst/>
          </a:prstGeom>
          <a:ln w="0">
            <a:noFill/>
          </a:ln>
        </p:spPr>
      </p:sp>
      <p:sp>
        <p:nvSpPr>
          <p:cNvPr id="2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74"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36738E2-C42F-4B15-B171-AB008C39B88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sldImg"/>
          </p:nvPr>
        </p:nvSpPr>
        <p:spPr>
          <a:xfrm>
            <a:off x="685800" y="1143000"/>
            <a:ext cx="5486040" cy="3085920"/>
          </a:xfrm>
          <a:prstGeom prst="rect">
            <a:avLst/>
          </a:prstGeom>
          <a:ln w="0">
            <a:noFill/>
          </a:ln>
        </p:spPr>
      </p:sp>
      <p:sp>
        <p:nvSpPr>
          <p:cNvPr id="2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77"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7945A41-37DF-4A2D-8730-ED6F3E0D34E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 Id="rId6"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B"/>
        </a:solidFill>
      </p:bgPr>
    </p:bg>
    <p:spTree>
      <p:nvGrpSpPr>
        <p:cNvPr id="1" name=""/>
        <p:cNvGrpSpPr/>
        <p:nvPr/>
      </p:nvGrpSpPr>
      <p:grpSpPr>
        <a:xfrm>
          <a:off x="0" y="0"/>
          <a:ext cx="0" cy="0"/>
          <a:chOff x="0" y="0"/>
          <a:chExt cx="0" cy="0"/>
        </a:xfrm>
      </p:grpSpPr>
      <p:sp>
        <p:nvSpPr>
          <p:cNvPr id="10" name="Shape 0"/>
          <p:cNvSpPr/>
          <p:nvPr/>
        </p:nvSpPr>
        <p:spPr>
          <a:xfrm>
            <a:off x="8778240" y="-1828800"/>
            <a:ext cx="4754520" cy="4754520"/>
          </a:xfrm>
          <a:prstGeom prst="ellipse">
            <a:avLst/>
          </a:prstGeom>
          <a:solidFill>
            <a:srgbClr val="FEA116">
              <a:alpha val="12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 name="Shape 1"/>
          <p:cNvSpPr/>
          <p:nvPr/>
        </p:nvSpPr>
        <p:spPr>
          <a:xfrm>
            <a:off x="-1280160" y="5120640"/>
            <a:ext cx="3108600" cy="3108600"/>
          </a:xfrm>
          <a:prstGeom prst="ellipse">
            <a:avLst/>
          </a:prstGeom>
          <a:solidFill>
            <a:srgbClr val="FFFFFF">
              <a:alpha val="7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 name="Text 2"/>
          <p:cNvSpPr/>
          <p:nvPr/>
        </p:nvSpPr>
        <p:spPr>
          <a:xfrm>
            <a:off x="822960" y="2331720"/>
            <a:ext cx="105152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600" b="1" u="none" strike="noStrike">
                <a:solidFill>
                  <a:srgbClr val="FFFFFF"/>
                </a:solidFill>
                <a:effectLst/>
                <a:uFillTx/>
                <a:latin typeface="Cambria"/>
                <a:ea typeface="Cambria"/>
              </a:rPr>
              <a:t>RESTAURANT 905 Project</a:t>
            </a:r>
            <a:endParaRPr lang="en-US" sz="4600" b="0" u="none" strike="noStrike">
              <a:solidFill>
                <a:srgbClr val="FFFFFF"/>
              </a:solidFill>
              <a:effectLst/>
              <a:uFillTx/>
              <a:latin typeface="Arial"/>
            </a:endParaRPr>
          </a:p>
        </p:txBody>
      </p:sp>
      <p:sp>
        <p:nvSpPr>
          <p:cNvPr id="13" name="Text 3"/>
          <p:cNvSpPr/>
          <p:nvPr/>
        </p:nvSpPr>
        <p:spPr>
          <a:xfrm>
            <a:off x="822960" y="3337560"/>
            <a:ext cx="1051524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0" u="none" strike="noStrike">
                <a:solidFill>
                  <a:srgbClr val="FEA116"/>
                </a:solidFill>
                <a:effectLst/>
                <a:uFillTx/>
                <a:latin typeface="Calibri"/>
                <a:ea typeface="Calibri"/>
              </a:rPr>
              <a:t>A Full-Stack Restaurant Ordering &amp; Management Platform</a:t>
            </a:r>
            <a:endParaRPr lang="en-US" sz="1900" b="0" u="none" strike="noStrike">
              <a:solidFill>
                <a:srgbClr val="FFFFFF"/>
              </a:solidFill>
              <a:effectLst/>
              <a:uFillTx/>
              <a:latin typeface="Arial"/>
            </a:endParaRPr>
          </a:p>
        </p:txBody>
      </p:sp>
      <p:sp>
        <p:nvSpPr>
          <p:cNvPr id="14" name="Text 4"/>
          <p:cNvSpPr/>
          <p:nvPr/>
        </p:nvSpPr>
        <p:spPr>
          <a:xfrm>
            <a:off x="822960" y="3931920"/>
            <a:ext cx="105152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C7CEDA"/>
                </a:solidFill>
                <a:effectLst/>
                <a:uFillTx/>
                <a:latin typeface="Calibri"/>
                <a:ea typeface="Calibri"/>
              </a:rPr>
              <a:t>Spring Boot REST API  •  Angular Client  •  JWT Security  •  Oracle Database</a:t>
            </a:r>
            <a:endParaRPr lang="en-US" sz="1300" b="0" u="none" strike="noStrike">
              <a:solidFill>
                <a:srgbClr val="FFFFFF"/>
              </a:solidFill>
              <a:effectLst/>
              <a:uFillTx/>
              <a:latin typeface="Arial"/>
            </a:endParaRPr>
          </a:p>
        </p:txBody>
      </p:sp>
      <p:sp>
        <p:nvSpPr>
          <p:cNvPr id="15" name="Text 5"/>
          <p:cNvSpPr/>
          <p:nvPr/>
        </p:nvSpPr>
        <p:spPr>
          <a:xfrm>
            <a:off x="822960" y="5989320"/>
            <a:ext cx="73148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i="1" u="none" strike="noStrike">
                <a:solidFill>
                  <a:srgbClr val="8993A4"/>
                </a:solidFill>
                <a:effectLst/>
                <a:uFillTx/>
                <a:latin typeface="Calibri"/>
                <a:ea typeface="Calibri"/>
              </a:rPr>
              <a:t>Java Backend Diploma — EraaSoft</a:t>
            </a:r>
            <a:endParaRPr lang="en-US" sz="1200" b="0" u="none" strike="noStrike">
              <a:solidFill>
                <a:srgbClr val="FFFFFF"/>
              </a:solidFill>
              <a:effectLst/>
              <a:uFillTx/>
              <a:latin typeface="Arial"/>
            </a:endParaRPr>
          </a:p>
        </p:txBody>
      </p:sp>
      <p:sp>
        <p:nvSpPr>
          <p:cNvPr id="16" name=""/>
          <p:cNvSpPr txBox="1"/>
          <p:nvPr/>
        </p:nvSpPr>
        <p:spPr>
          <a:xfrm>
            <a:off x="822960" y="5708520"/>
            <a:ext cx="1784880" cy="280800"/>
          </a:xfrm>
          <a:prstGeom prst="rect">
            <a:avLst/>
          </a:prstGeom>
          <a:noFill/>
          <a:ln w="0">
            <a:noFill/>
          </a:ln>
        </p:spPr>
        <p:txBody>
          <a:bodyPr wrap="none" lIns="90000" tIns="45000" rIns="90000" bIns="45000" anchor="t">
            <a:spAutoFit/>
          </a:bodyPr>
          <a:p>
            <a:r>
              <a:rPr lang="en-US" sz="1500" b="0" u="none" strike="noStrike">
                <a:solidFill>
                  <a:srgbClr val="FFFFFF"/>
                </a:solidFill>
                <a:effectLst/>
                <a:uFillTx/>
                <a:latin typeface="Calibri"/>
              </a:rPr>
              <a:t>By Mohamed Magdy</a:t>
            </a:r>
            <a:endParaRPr lang="en-US" sz="1500" b="0" u="none" strike="noStrike">
              <a:solidFill>
                <a:srgbClr val="FFFFFF"/>
              </a:solidFill>
              <a:effectLst/>
              <a:uFillTx/>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Text 0"/>
          <p:cNvSpPr/>
          <p:nvPr/>
        </p:nvSpPr>
        <p:spPr>
          <a:xfrm>
            <a:off x="548640" y="41148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F172B"/>
                </a:solidFill>
                <a:effectLst/>
                <a:uFillTx/>
                <a:latin typeface="Cambria"/>
                <a:ea typeface="Cambria"/>
              </a:rPr>
              <a:t>Project Overview</a:t>
            </a:r>
            <a:endParaRPr lang="en-US" sz="3000" b="0" u="none" strike="noStrike">
              <a:solidFill>
                <a:srgbClr val="000000"/>
              </a:solidFill>
              <a:effectLst/>
              <a:uFillTx/>
              <a:latin typeface="Arial"/>
            </a:endParaRPr>
          </a:p>
        </p:txBody>
      </p:sp>
      <p:sp>
        <p:nvSpPr>
          <p:cNvPr id="18" name="Text 1"/>
          <p:cNvSpPr/>
          <p:nvPr/>
        </p:nvSpPr>
        <p:spPr>
          <a:xfrm>
            <a:off x="548640" y="1600200"/>
            <a:ext cx="6126120" cy="4205880"/>
          </a:xfrm>
          <a:prstGeom prst="rect">
            <a:avLst/>
          </a:prstGeom>
          <a:noFill/>
          <a:ln w="0">
            <a:noFill/>
          </a:ln>
        </p:spPr>
        <p:style>
          <a:lnRef idx="0"/>
          <a:fillRef idx="0"/>
          <a:effectRef idx="0"/>
          <a:fontRef idx="minor"/>
        </p:style>
        <p:txBody>
          <a:bodyPr lIns="0" tIns="0" rIns="0" bIns="0" anchor="t">
            <a:noAutofit/>
          </a:bodyPr>
          <a:p>
            <a:r>
              <a:rPr lang="en-US" sz="1550" b="0" u="none" strike="noStrike">
                <a:solidFill>
                  <a:srgbClr val="3B4453"/>
                </a:solidFill>
                <a:effectLst/>
                <a:uFillTx/>
                <a:latin typeface="Calibri"/>
                <a:ea typeface="Calibri"/>
              </a:rPr>
              <a:t>Restaurant lets customers browse a restaurant's menu, add items to a cart, place orders, and contact the restaurant, while giving admins the tools to manage food items, orders, and customer messages.</a:t>
            </a:r>
            <a:endParaRPr lang="en-US" sz="1550" b="0" u="none" strike="noStrike">
              <a:solidFill>
                <a:srgbClr val="000000"/>
              </a:solidFill>
              <a:effectLst/>
              <a:uFillTx/>
              <a:latin typeface="Arial"/>
            </a:endParaRPr>
          </a:p>
          <a:p>
            <a:endParaRPr lang="en-US" sz="1550" b="0" u="none" strike="noStrike">
              <a:solidFill>
                <a:srgbClr val="000000"/>
              </a:solidFill>
              <a:effectLst/>
              <a:uFillTx/>
              <a:latin typeface="Arial"/>
            </a:endParaRPr>
          </a:p>
          <a:p>
            <a:pPr defTabSz="914400">
              <a:lnSpc>
                <a:spcPct val="125000"/>
              </a:lnSpc>
              <a:tabLst>
                <a:tab pos="0" algn="l"/>
              </a:tabLst>
            </a:pPr>
            <a:endParaRPr lang="en-US" sz="1550" b="0" u="none" strike="noStrike">
              <a:solidFill>
                <a:srgbClr val="000000"/>
              </a:solidFill>
              <a:effectLst/>
              <a:uFillTx/>
              <a:latin typeface="Arial"/>
            </a:endParaRPr>
          </a:p>
          <a:p>
            <a:pPr defTabSz="914400">
              <a:lnSpc>
                <a:spcPct val="125000"/>
              </a:lnSpc>
              <a:tabLst>
                <a:tab pos="0" algn="l"/>
              </a:tabLst>
            </a:pPr>
            <a:r>
              <a:rPr lang="en-US" sz="1550" b="0" u="none" strike="noStrike">
                <a:solidFill>
                  <a:srgbClr val="3B4453"/>
                </a:solidFill>
                <a:effectLst/>
                <a:uFillTx/>
                <a:latin typeface="Calibri"/>
                <a:ea typeface="Calibri"/>
              </a:rPr>
              <a:t>The backend is a Spring Boot REST API secured with JWT authentication. </a:t>
            </a:r>
            <a:endParaRPr lang="en-US" sz="1550" b="0" u="none" strike="noStrike">
              <a:solidFill>
                <a:srgbClr val="000000"/>
              </a:solidFill>
              <a:effectLst/>
              <a:uFillTx/>
              <a:latin typeface="Arial"/>
            </a:endParaRPr>
          </a:p>
          <a:p>
            <a:pPr defTabSz="914400">
              <a:lnSpc>
                <a:spcPct val="125000"/>
              </a:lnSpc>
              <a:tabLst>
                <a:tab pos="0" algn="l"/>
              </a:tabLst>
            </a:pPr>
            <a:r>
              <a:rPr lang="en-US" sz="1550" b="0" u="none" strike="noStrike">
                <a:solidFill>
                  <a:srgbClr val="3B4453"/>
                </a:solidFill>
                <a:effectLst/>
                <a:uFillTx/>
                <a:latin typeface="Calibri"/>
                <a:ea typeface="Calibri"/>
              </a:rPr>
              <a:t>The frontend is an Angular single-page app that consumes that API.</a:t>
            </a:r>
            <a:endParaRPr lang="en-US" sz="1550" b="0" u="none" strike="noStrike">
              <a:solidFill>
                <a:srgbClr val="000000"/>
              </a:solidFill>
              <a:effectLst/>
              <a:uFillTx/>
              <a:latin typeface="Arial"/>
            </a:endParaRPr>
          </a:p>
        </p:txBody>
      </p:sp>
      <p:sp>
        <p:nvSpPr>
          <p:cNvPr id="19" name="Shape 2"/>
          <p:cNvSpPr/>
          <p:nvPr/>
        </p:nvSpPr>
        <p:spPr>
          <a:xfrm>
            <a:off x="7086600" y="1600200"/>
            <a:ext cx="2194200" cy="1599840"/>
          </a:xfrm>
          <a:prstGeom prst="roundRect">
            <a:avLst>
              <a:gd name="adj" fmla="val 4571"/>
            </a:avLst>
          </a:prstGeom>
          <a:solidFill>
            <a:srgbClr val="EE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 name="Text 3"/>
          <p:cNvSpPr/>
          <p:nvPr/>
        </p:nvSpPr>
        <p:spPr>
          <a:xfrm>
            <a:off x="7086600" y="1801440"/>
            <a:ext cx="219420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u="none" strike="noStrike">
                <a:solidFill>
                  <a:srgbClr val="FEA116"/>
                </a:solidFill>
                <a:effectLst/>
                <a:uFillTx/>
                <a:latin typeface="Cambria"/>
                <a:ea typeface="Cambria"/>
              </a:rPr>
              <a:t>2</a:t>
            </a:r>
            <a:endParaRPr lang="en-US" sz="2400" b="0" u="none" strike="noStrike">
              <a:solidFill>
                <a:srgbClr val="000000"/>
              </a:solidFill>
              <a:effectLst/>
              <a:uFillTx/>
              <a:latin typeface="Arial"/>
            </a:endParaRPr>
          </a:p>
        </p:txBody>
      </p:sp>
      <p:sp>
        <p:nvSpPr>
          <p:cNvPr id="21" name="Text 4"/>
          <p:cNvSpPr/>
          <p:nvPr/>
        </p:nvSpPr>
        <p:spPr>
          <a:xfrm>
            <a:off x="7178040" y="2377440"/>
            <a:ext cx="201132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0" u="none" strike="noStrike">
                <a:solidFill>
                  <a:srgbClr val="3B4453"/>
                </a:solidFill>
                <a:effectLst/>
                <a:uFillTx/>
                <a:latin typeface="Calibri"/>
                <a:ea typeface="Calibri"/>
              </a:rPr>
              <a:t>User Roles</a:t>
            </a:r>
            <a:endParaRPr lang="en-US" sz="1050" b="0" u="none" strike="noStrike">
              <a:solidFill>
                <a:srgbClr val="000000"/>
              </a:solidFill>
              <a:effectLst/>
              <a:uFillTx/>
              <a:latin typeface="Arial"/>
            </a:endParaRPr>
          </a:p>
          <a:p>
            <a:pPr algn="ctr" defTabSz="914400">
              <a:lnSpc>
                <a:spcPct val="100000"/>
              </a:lnSpc>
              <a:tabLst>
                <a:tab pos="0" algn="l"/>
              </a:tabLst>
            </a:pPr>
            <a:r>
              <a:rPr lang="en-US" sz="1050" b="0" u="none" strike="noStrike">
                <a:solidFill>
                  <a:srgbClr val="3B4453"/>
                </a:solidFill>
                <a:effectLst/>
                <a:uFillTx/>
                <a:latin typeface="Calibri"/>
                <a:ea typeface="Calibri"/>
              </a:rPr>
              <a:t>(Admin &amp; Customer)</a:t>
            </a:r>
            <a:endParaRPr lang="en-US" sz="1050" b="0" u="none" strike="noStrike">
              <a:solidFill>
                <a:srgbClr val="000000"/>
              </a:solidFill>
              <a:effectLst/>
              <a:uFillTx/>
              <a:latin typeface="Arial"/>
            </a:endParaRPr>
          </a:p>
        </p:txBody>
      </p:sp>
      <p:sp>
        <p:nvSpPr>
          <p:cNvPr id="22" name="Shape 5"/>
          <p:cNvSpPr/>
          <p:nvPr/>
        </p:nvSpPr>
        <p:spPr>
          <a:xfrm>
            <a:off x="9509760" y="1600200"/>
            <a:ext cx="2194200" cy="1599840"/>
          </a:xfrm>
          <a:prstGeom prst="roundRect">
            <a:avLst>
              <a:gd name="adj" fmla="val 4571"/>
            </a:avLst>
          </a:prstGeom>
          <a:solidFill>
            <a:srgbClr val="EE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 name="Text 6"/>
          <p:cNvSpPr/>
          <p:nvPr/>
        </p:nvSpPr>
        <p:spPr>
          <a:xfrm>
            <a:off x="9509760" y="1801440"/>
            <a:ext cx="219420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u="none" strike="noStrike">
                <a:solidFill>
                  <a:srgbClr val="FEA116"/>
                </a:solidFill>
                <a:effectLst/>
                <a:uFillTx/>
                <a:latin typeface="Cambria"/>
                <a:ea typeface="Cambria"/>
              </a:rPr>
              <a:t>JWT</a:t>
            </a:r>
            <a:endParaRPr lang="en-US" sz="2400" b="0" u="none" strike="noStrike">
              <a:solidFill>
                <a:srgbClr val="000000"/>
              </a:solidFill>
              <a:effectLst/>
              <a:uFillTx/>
              <a:latin typeface="Arial"/>
            </a:endParaRPr>
          </a:p>
        </p:txBody>
      </p:sp>
      <p:sp>
        <p:nvSpPr>
          <p:cNvPr id="24" name="Text 7"/>
          <p:cNvSpPr/>
          <p:nvPr/>
        </p:nvSpPr>
        <p:spPr>
          <a:xfrm>
            <a:off x="9601200" y="2377440"/>
            <a:ext cx="201132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0" u="none" strike="noStrike">
                <a:solidFill>
                  <a:srgbClr val="3B4453"/>
                </a:solidFill>
                <a:effectLst/>
                <a:uFillTx/>
                <a:latin typeface="Calibri"/>
                <a:ea typeface="Calibri"/>
              </a:rPr>
              <a:t>Stateless</a:t>
            </a:r>
            <a:endParaRPr lang="en-US" sz="1050" b="0" u="none" strike="noStrike">
              <a:solidFill>
                <a:srgbClr val="000000"/>
              </a:solidFill>
              <a:effectLst/>
              <a:uFillTx/>
              <a:latin typeface="Arial"/>
            </a:endParaRPr>
          </a:p>
          <a:p>
            <a:pPr algn="ctr" defTabSz="914400">
              <a:lnSpc>
                <a:spcPct val="100000"/>
              </a:lnSpc>
              <a:tabLst>
                <a:tab pos="0" algn="l"/>
              </a:tabLst>
            </a:pPr>
            <a:r>
              <a:rPr lang="en-US" sz="1050" b="0" u="none" strike="noStrike">
                <a:solidFill>
                  <a:srgbClr val="3B4453"/>
                </a:solidFill>
                <a:effectLst/>
                <a:uFillTx/>
                <a:latin typeface="Calibri"/>
                <a:ea typeface="Calibri"/>
              </a:rPr>
              <a:t>Token Authentication</a:t>
            </a:r>
            <a:endParaRPr lang="en-US" sz="1050" b="0" u="none" strike="noStrike">
              <a:solidFill>
                <a:srgbClr val="000000"/>
              </a:solidFill>
              <a:effectLst/>
              <a:uFillTx/>
              <a:latin typeface="Arial"/>
            </a:endParaRPr>
          </a:p>
        </p:txBody>
      </p:sp>
      <p:sp>
        <p:nvSpPr>
          <p:cNvPr id="25" name="Shape 8"/>
          <p:cNvSpPr/>
          <p:nvPr/>
        </p:nvSpPr>
        <p:spPr>
          <a:xfrm>
            <a:off x="7086600" y="3429000"/>
            <a:ext cx="2194200" cy="1599840"/>
          </a:xfrm>
          <a:prstGeom prst="roundRect">
            <a:avLst>
              <a:gd name="adj" fmla="val 4571"/>
            </a:avLst>
          </a:prstGeom>
          <a:solidFill>
            <a:srgbClr val="EE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 name="Text 9"/>
          <p:cNvSpPr/>
          <p:nvPr/>
        </p:nvSpPr>
        <p:spPr>
          <a:xfrm>
            <a:off x="7086600" y="3630240"/>
            <a:ext cx="219420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u="none" strike="noStrike">
                <a:solidFill>
                  <a:srgbClr val="FEA116"/>
                </a:solidFill>
                <a:effectLst/>
                <a:uFillTx/>
                <a:latin typeface="Cambria"/>
                <a:ea typeface="Cambria"/>
              </a:rPr>
              <a:t>AR / EN</a:t>
            </a:r>
            <a:endParaRPr lang="en-US" sz="2400" b="0" u="none" strike="noStrike">
              <a:solidFill>
                <a:srgbClr val="000000"/>
              </a:solidFill>
              <a:effectLst/>
              <a:uFillTx/>
              <a:latin typeface="Arial"/>
            </a:endParaRPr>
          </a:p>
        </p:txBody>
      </p:sp>
      <p:sp>
        <p:nvSpPr>
          <p:cNvPr id="27" name="Text 10"/>
          <p:cNvSpPr/>
          <p:nvPr/>
        </p:nvSpPr>
        <p:spPr>
          <a:xfrm>
            <a:off x="7178040" y="4206240"/>
            <a:ext cx="201132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0" u="none" strike="noStrike">
                <a:solidFill>
                  <a:srgbClr val="3B4453"/>
                </a:solidFill>
                <a:effectLst/>
                <a:uFillTx/>
                <a:latin typeface="Calibri"/>
                <a:ea typeface="Calibri"/>
              </a:rPr>
              <a:t>Bilingual</a:t>
            </a:r>
            <a:endParaRPr lang="en-US" sz="1050" b="0" u="none" strike="noStrike">
              <a:solidFill>
                <a:srgbClr val="000000"/>
              </a:solidFill>
              <a:effectLst/>
              <a:uFillTx/>
              <a:latin typeface="Arial"/>
            </a:endParaRPr>
          </a:p>
          <a:p>
            <a:pPr algn="ctr" defTabSz="914400">
              <a:lnSpc>
                <a:spcPct val="100000"/>
              </a:lnSpc>
              <a:tabLst>
                <a:tab pos="0" algn="l"/>
              </a:tabLst>
            </a:pPr>
            <a:r>
              <a:rPr lang="en-US" sz="1050" b="0" u="none" strike="noStrike">
                <a:solidFill>
                  <a:srgbClr val="3B4453"/>
                </a:solidFill>
                <a:effectLst/>
                <a:uFillTx/>
                <a:latin typeface="Calibri"/>
                <a:ea typeface="Calibri"/>
              </a:rPr>
              <a:t>Error Messages</a:t>
            </a:r>
            <a:endParaRPr lang="en-US" sz="1050" b="0" u="none" strike="noStrike">
              <a:solidFill>
                <a:srgbClr val="000000"/>
              </a:solidFill>
              <a:effectLst/>
              <a:uFillTx/>
              <a:latin typeface="Arial"/>
            </a:endParaRPr>
          </a:p>
        </p:txBody>
      </p:sp>
      <p:sp>
        <p:nvSpPr>
          <p:cNvPr id="28" name="Shape 11"/>
          <p:cNvSpPr/>
          <p:nvPr/>
        </p:nvSpPr>
        <p:spPr>
          <a:xfrm>
            <a:off x="9509760" y="3429000"/>
            <a:ext cx="2194200" cy="1599840"/>
          </a:xfrm>
          <a:prstGeom prst="roundRect">
            <a:avLst>
              <a:gd name="adj" fmla="val 4571"/>
            </a:avLst>
          </a:prstGeom>
          <a:solidFill>
            <a:srgbClr val="EE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 name="Text 12"/>
          <p:cNvSpPr/>
          <p:nvPr/>
        </p:nvSpPr>
        <p:spPr>
          <a:xfrm>
            <a:off x="9509760" y="3630240"/>
            <a:ext cx="219420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400" b="1" u="none" strike="noStrike">
                <a:solidFill>
                  <a:srgbClr val="FEA116"/>
                </a:solidFill>
                <a:effectLst/>
                <a:uFillTx/>
                <a:latin typeface="Cambria"/>
                <a:ea typeface="Cambria"/>
              </a:rPr>
              <a:t>REST</a:t>
            </a:r>
            <a:endParaRPr lang="en-US" sz="2400" b="0" u="none" strike="noStrike">
              <a:solidFill>
                <a:srgbClr val="000000"/>
              </a:solidFill>
              <a:effectLst/>
              <a:uFillTx/>
              <a:latin typeface="Arial"/>
            </a:endParaRPr>
          </a:p>
        </p:txBody>
      </p:sp>
      <p:sp>
        <p:nvSpPr>
          <p:cNvPr id="30" name="Text 13"/>
          <p:cNvSpPr/>
          <p:nvPr/>
        </p:nvSpPr>
        <p:spPr>
          <a:xfrm>
            <a:off x="9601200" y="4206240"/>
            <a:ext cx="201132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50" b="0" u="none" strike="noStrike">
                <a:solidFill>
                  <a:srgbClr val="3B4453"/>
                </a:solidFill>
                <a:effectLst/>
                <a:uFillTx/>
                <a:latin typeface="Calibri"/>
                <a:ea typeface="Calibri"/>
              </a:rPr>
              <a:t>Layered API</a:t>
            </a:r>
            <a:endParaRPr lang="en-US" sz="1050" b="0" u="none" strike="noStrike">
              <a:solidFill>
                <a:srgbClr val="000000"/>
              </a:solidFill>
              <a:effectLst/>
              <a:uFillTx/>
              <a:latin typeface="Arial"/>
            </a:endParaRPr>
          </a:p>
          <a:p>
            <a:pPr algn="ctr" defTabSz="914400">
              <a:lnSpc>
                <a:spcPct val="100000"/>
              </a:lnSpc>
              <a:tabLst>
                <a:tab pos="0" algn="l"/>
              </a:tabLst>
            </a:pPr>
            <a:r>
              <a:rPr lang="en-US" sz="1050" b="0" u="none" strike="noStrike">
                <a:solidFill>
                  <a:srgbClr val="3B4453"/>
                </a:solidFill>
                <a:effectLst/>
                <a:uFillTx/>
                <a:latin typeface="Calibri"/>
                <a:ea typeface="Calibri"/>
              </a:rPr>
              <a:t>Architecture</a:t>
            </a:r>
            <a:endParaRPr lang="en-US" sz="1050" b="0" u="none" strike="noStrike">
              <a:solidFill>
                <a:srgbClr val="000000"/>
              </a:solidFill>
              <a:effectLst/>
              <a:uFillTx/>
              <a:latin typeface="Arial"/>
            </a:endParaRPr>
          </a:p>
        </p:txBody>
      </p:sp>
      <p:sp>
        <p:nvSpPr>
          <p:cNvPr id="31" name="Text 14"/>
          <p:cNvSpPr/>
          <p:nvPr/>
        </p:nvSpPr>
        <p:spPr>
          <a:xfrm>
            <a:off x="548640" y="647388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7AEB8"/>
                </a:solidFill>
                <a:effectLst/>
                <a:uFillTx/>
                <a:latin typeface="Calibri"/>
                <a:ea typeface="Calibri"/>
              </a:rPr>
              <a:t>Restaurant 905</a:t>
            </a:r>
            <a:endParaRPr lang="en-US" sz="900" b="0" u="none" strike="noStrike">
              <a:solidFill>
                <a:srgbClr val="000000"/>
              </a:solidFill>
              <a:effectLst/>
              <a:uFillTx/>
              <a:latin typeface="Arial"/>
            </a:endParaRPr>
          </a:p>
        </p:txBody>
      </p:sp>
      <p:sp>
        <p:nvSpPr>
          <p:cNvPr id="32" name="Text 15"/>
          <p:cNvSpPr/>
          <p:nvPr/>
        </p:nvSpPr>
        <p:spPr>
          <a:xfrm>
            <a:off x="11091600" y="6473880"/>
            <a:ext cx="5482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A7AEB8"/>
                </a:solidFill>
                <a:effectLst/>
                <a:uFillTx/>
                <a:latin typeface="Calibri"/>
                <a:ea typeface="Calibri"/>
              </a:rPr>
              <a:t>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 name="Text 0"/>
          <p:cNvSpPr/>
          <p:nvPr/>
        </p:nvSpPr>
        <p:spPr>
          <a:xfrm>
            <a:off x="548640" y="41148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F172B"/>
                </a:solidFill>
                <a:effectLst/>
                <a:uFillTx/>
                <a:latin typeface="Cambria"/>
                <a:ea typeface="Cambria"/>
              </a:rPr>
              <a:t>Technology Stack</a:t>
            </a:r>
            <a:endParaRPr lang="en-US" sz="3000" b="0" u="none" strike="noStrike">
              <a:solidFill>
                <a:srgbClr val="000000"/>
              </a:solidFill>
              <a:effectLst/>
              <a:uFillTx/>
              <a:latin typeface="Arial"/>
            </a:endParaRPr>
          </a:p>
        </p:txBody>
      </p:sp>
      <p:sp>
        <p:nvSpPr>
          <p:cNvPr id="34" name="Shape 1"/>
          <p:cNvSpPr/>
          <p:nvPr/>
        </p:nvSpPr>
        <p:spPr>
          <a:xfrm>
            <a:off x="548640" y="1463040"/>
            <a:ext cx="5440320" cy="4891680"/>
          </a:xfrm>
          <a:prstGeom prst="roundRect">
            <a:avLst>
              <a:gd name="adj" fmla="val 1495"/>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 name="Text 2"/>
          <p:cNvSpPr/>
          <p:nvPr/>
        </p:nvSpPr>
        <p:spPr>
          <a:xfrm>
            <a:off x="868680" y="1737360"/>
            <a:ext cx="4800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100" b="1" u="none" strike="noStrike">
                <a:solidFill>
                  <a:srgbClr val="FEA116"/>
                </a:solidFill>
                <a:effectLst/>
                <a:uFillTx/>
                <a:latin typeface="Cambria"/>
                <a:ea typeface="Cambria"/>
              </a:rPr>
              <a:t>Backend</a:t>
            </a:r>
            <a:endParaRPr lang="en-US" sz="2100" b="0" u="none" strike="noStrike">
              <a:solidFill>
                <a:srgbClr val="000000"/>
              </a:solidFill>
              <a:effectLst/>
              <a:uFillTx/>
              <a:latin typeface="Arial"/>
            </a:endParaRPr>
          </a:p>
        </p:txBody>
      </p:sp>
      <p:sp>
        <p:nvSpPr>
          <p:cNvPr id="36" name="Text 3"/>
          <p:cNvSpPr/>
          <p:nvPr/>
        </p:nvSpPr>
        <p:spPr>
          <a:xfrm>
            <a:off x="868680" y="2331720"/>
            <a:ext cx="4800240" cy="379440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1001"/>
              </a:spcAft>
              <a:buClr>
                <a:srgbClr val="FFFFFF"/>
              </a:buClr>
              <a:buFont typeface="Symbol" charset="2"/>
              <a:buChar char=""/>
            </a:pPr>
            <a:r>
              <a:rPr lang="en-US" sz="1300" b="0" u="none" strike="noStrike">
                <a:solidFill>
                  <a:srgbClr val="FFFFFF"/>
                </a:solidFill>
                <a:effectLst/>
                <a:uFillTx/>
                <a:latin typeface="Calibri"/>
                <a:ea typeface="Calibri"/>
              </a:rPr>
              <a:t>Java 17</a:t>
            </a:r>
            <a:endParaRPr lang="en-US" sz="1300" b="0" u="none" strike="noStrike">
              <a:solidFill>
                <a:srgbClr val="000000"/>
              </a:solidFill>
              <a:effectLst/>
              <a:uFillTx/>
              <a:latin typeface="Arial"/>
            </a:endParaRPr>
          </a:p>
          <a:p>
            <a:pPr marL="343080" indent="-343080" defTabSz="914400">
              <a:lnSpc>
                <a:spcPct val="100000"/>
              </a:lnSpc>
              <a:spcAft>
                <a:spcPts val="1001"/>
              </a:spcAft>
              <a:buClr>
                <a:srgbClr val="FFFFFF"/>
              </a:buClr>
              <a:buFont typeface="Symbol" charset="2"/>
              <a:buChar char=""/>
            </a:pPr>
            <a:r>
              <a:rPr lang="en-US" sz="1300" b="0" u="none" strike="noStrike">
                <a:solidFill>
                  <a:srgbClr val="FFFFFF"/>
                </a:solidFill>
                <a:effectLst/>
                <a:uFillTx/>
                <a:latin typeface="Calibri"/>
                <a:ea typeface="Calibri"/>
              </a:rPr>
              <a:t>Spring Boot 3.4.5 (Web, Data JPA, Validation, Security)</a:t>
            </a:r>
            <a:endParaRPr lang="en-US" sz="1300" b="0" u="none" strike="noStrike">
              <a:solidFill>
                <a:srgbClr val="000000"/>
              </a:solidFill>
              <a:effectLst/>
              <a:uFillTx/>
              <a:latin typeface="Arial"/>
            </a:endParaRPr>
          </a:p>
          <a:p>
            <a:pPr marL="343080" indent="-343080" defTabSz="914400">
              <a:lnSpc>
                <a:spcPct val="100000"/>
              </a:lnSpc>
              <a:spcAft>
                <a:spcPts val="1001"/>
              </a:spcAft>
              <a:buClr>
                <a:srgbClr val="FFFFFF"/>
              </a:buClr>
              <a:buFont typeface="Symbol" charset="2"/>
              <a:buChar char=""/>
            </a:pPr>
            <a:r>
              <a:rPr lang="en-US" sz="1300" b="0" u="none" strike="noStrike">
                <a:solidFill>
                  <a:srgbClr val="FFFFFF"/>
                </a:solidFill>
                <a:effectLst/>
                <a:uFillTx/>
                <a:latin typeface="Calibri"/>
                <a:ea typeface="Calibri"/>
              </a:rPr>
              <a:t>Spring Security + JWT (jjwt)</a:t>
            </a:r>
            <a:endParaRPr lang="en-US" sz="1300" b="0" u="none" strike="noStrike">
              <a:solidFill>
                <a:srgbClr val="000000"/>
              </a:solidFill>
              <a:effectLst/>
              <a:uFillTx/>
              <a:latin typeface="Arial"/>
            </a:endParaRPr>
          </a:p>
          <a:p>
            <a:pPr marL="343080" indent="-343080" defTabSz="914400">
              <a:lnSpc>
                <a:spcPct val="100000"/>
              </a:lnSpc>
              <a:spcAft>
                <a:spcPts val="1001"/>
              </a:spcAft>
              <a:buClr>
                <a:srgbClr val="FFFFFF"/>
              </a:buClr>
              <a:buFont typeface="Symbol" charset="2"/>
              <a:buChar char=""/>
            </a:pPr>
            <a:r>
              <a:rPr lang="en-US" sz="1300" b="0" u="none" strike="noStrike">
                <a:solidFill>
                  <a:srgbClr val="FFFFFF"/>
                </a:solidFill>
                <a:effectLst/>
                <a:uFillTx/>
                <a:latin typeface="Calibri"/>
                <a:ea typeface="Calibri"/>
              </a:rPr>
              <a:t>Oracle Database via Spring Data JPA / Hibernate</a:t>
            </a:r>
            <a:endParaRPr lang="en-US" sz="1300" b="0" u="none" strike="noStrike">
              <a:solidFill>
                <a:srgbClr val="000000"/>
              </a:solidFill>
              <a:effectLst/>
              <a:uFillTx/>
              <a:latin typeface="Arial"/>
            </a:endParaRPr>
          </a:p>
          <a:p>
            <a:pPr marL="343080" indent="-343080" defTabSz="914400">
              <a:lnSpc>
                <a:spcPct val="100000"/>
              </a:lnSpc>
              <a:spcAft>
                <a:spcPts val="1001"/>
              </a:spcAft>
              <a:buClr>
                <a:srgbClr val="FFFFFF"/>
              </a:buClr>
              <a:buFont typeface="Symbol" charset="2"/>
              <a:buChar char=""/>
            </a:pPr>
            <a:r>
              <a:rPr lang="en-US" sz="1300" b="0" u="none" strike="noStrike">
                <a:solidFill>
                  <a:srgbClr val="FFFFFF"/>
                </a:solidFill>
                <a:effectLst/>
                <a:uFillTx/>
                <a:latin typeface="Calibri"/>
                <a:ea typeface="Calibri"/>
              </a:rPr>
              <a:t>MapStruct — DTO / Entity mapping</a:t>
            </a:r>
            <a:endParaRPr lang="en-US" sz="1300" b="0" u="none" strike="noStrike">
              <a:solidFill>
                <a:srgbClr val="000000"/>
              </a:solidFill>
              <a:effectLst/>
              <a:uFillTx/>
              <a:latin typeface="Arial"/>
            </a:endParaRPr>
          </a:p>
          <a:p>
            <a:pPr marL="343080" indent="-343080" defTabSz="914400">
              <a:lnSpc>
                <a:spcPct val="100000"/>
              </a:lnSpc>
              <a:spcAft>
                <a:spcPts val="1001"/>
              </a:spcAft>
              <a:buClr>
                <a:srgbClr val="FFFFFF"/>
              </a:buClr>
              <a:buFont typeface="Symbol" charset="2"/>
              <a:buChar char=""/>
            </a:pPr>
            <a:r>
              <a:rPr lang="en-US" sz="1300" b="0" u="none" strike="noStrike">
                <a:solidFill>
                  <a:srgbClr val="FFFFFF"/>
                </a:solidFill>
                <a:effectLst/>
                <a:uFillTx/>
                <a:latin typeface="Calibri"/>
                <a:ea typeface="Calibri"/>
              </a:rPr>
              <a:t>Lombok</a:t>
            </a:r>
            <a:endParaRPr lang="en-US" sz="1300" b="0" u="none" strike="noStrike">
              <a:solidFill>
                <a:srgbClr val="000000"/>
              </a:solidFill>
              <a:effectLst/>
              <a:uFillTx/>
              <a:latin typeface="Arial"/>
            </a:endParaRPr>
          </a:p>
          <a:p>
            <a:pPr marL="343080" indent="-343080" defTabSz="914400">
              <a:lnSpc>
                <a:spcPct val="100000"/>
              </a:lnSpc>
              <a:spcAft>
                <a:spcPts val="1001"/>
              </a:spcAft>
              <a:buClr>
                <a:srgbClr val="FFFFFF"/>
              </a:buClr>
              <a:buFont typeface="Symbol" charset="2"/>
              <a:buChar char=""/>
            </a:pPr>
            <a:r>
              <a:rPr lang="en-US" sz="1300" b="0" u="none" strike="noStrike">
                <a:solidFill>
                  <a:srgbClr val="FFFFFF"/>
                </a:solidFill>
                <a:effectLst/>
                <a:uFillTx/>
                <a:latin typeface="Calibri"/>
                <a:ea typeface="Calibri"/>
              </a:rPr>
              <a:t>springdoc-openapi (Swagger UI)</a:t>
            </a:r>
            <a:endParaRPr lang="en-US" sz="1300" b="0" u="none" strike="noStrike">
              <a:solidFill>
                <a:srgbClr val="000000"/>
              </a:solidFill>
              <a:effectLst/>
              <a:uFillTx/>
              <a:latin typeface="Arial"/>
            </a:endParaRPr>
          </a:p>
          <a:p>
            <a:pPr marL="343080" indent="-343080" defTabSz="914400">
              <a:lnSpc>
                <a:spcPct val="100000"/>
              </a:lnSpc>
              <a:spcAft>
                <a:spcPts val="1001"/>
              </a:spcAft>
              <a:buClr>
                <a:srgbClr val="FFFFFF"/>
              </a:buClr>
              <a:buFont typeface="Symbol" charset="2"/>
              <a:buChar char=""/>
            </a:pPr>
            <a:r>
              <a:rPr lang="en-US" sz="1300" b="0" u="none" strike="noStrike">
                <a:solidFill>
                  <a:srgbClr val="FFFFFF"/>
                </a:solidFill>
                <a:effectLst/>
                <a:uFillTx/>
                <a:latin typeface="Calibri"/>
                <a:ea typeface="Calibri"/>
              </a:rPr>
              <a:t>Custom validation &amp; bilingual (AR/EN) exception handling</a:t>
            </a:r>
            <a:endParaRPr lang="en-US" sz="1300" b="0" u="none" strike="noStrike">
              <a:solidFill>
                <a:srgbClr val="000000"/>
              </a:solidFill>
              <a:effectLst/>
              <a:uFillTx/>
              <a:latin typeface="Arial"/>
            </a:endParaRPr>
          </a:p>
        </p:txBody>
      </p:sp>
      <p:sp>
        <p:nvSpPr>
          <p:cNvPr id="37" name="Shape 4"/>
          <p:cNvSpPr/>
          <p:nvPr/>
        </p:nvSpPr>
        <p:spPr>
          <a:xfrm>
            <a:off x="6355080" y="1463040"/>
            <a:ext cx="5440320" cy="4891680"/>
          </a:xfrm>
          <a:prstGeom prst="roundRect">
            <a:avLst>
              <a:gd name="adj" fmla="val 1495"/>
            </a:avLst>
          </a:prstGeom>
          <a:solidFill>
            <a:srgbClr val="FEA11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 name="Text 5"/>
          <p:cNvSpPr/>
          <p:nvPr/>
        </p:nvSpPr>
        <p:spPr>
          <a:xfrm>
            <a:off x="6675120" y="1737360"/>
            <a:ext cx="4800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100" b="1" u="none" strike="noStrike">
                <a:solidFill>
                  <a:srgbClr val="0F172B"/>
                </a:solidFill>
                <a:effectLst/>
                <a:uFillTx/>
                <a:latin typeface="Cambria"/>
                <a:ea typeface="Cambria"/>
              </a:rPr>
              <a:t>Frontend</a:t>
            </a:r>
            <a:endParaRPr lang="en-US" sz="2100" b="0" u="none" strike="noStrike">
              <a:solidFill>
                <a:srgbClr val="000000"/>
              </a:solidFill>
              <a:effectLst/>
              <a:uFillTx/>
              <a:latin typeface="Arial"/>
            </a:endParaRPr>
          </a:p>
        </p:txBody>
      </p:sp>
      <p:sp>
        <p:nvSpPr>
          <p:cNvPr id="39" name="Text 6"/>
          <p:cNvSpPr/>
          <p:nvPr/>
        </p:nvSpPr>
        <p:spPr>
          <a:xfrm>
            <a:off x="6675120" y="2331720"/>
            <a:ext cx="4800240" cy="379440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1001"/>
              </a:spcAft>
              <a:buClr>
                <a:srgbClr val="0F172B"/>
              </a:buClr>
              <a:buFont typeface="Symbol" charset="2"/>
              <a:buChar char=""/>
            </a:pPr>
            <a:r>
              <a:rPr lang="en-US" sz="1300" b="0" u="none" strike="noStrike">
                <a:solidFill>
                  <a:srgbClr val="0F172B"/>
                </a:solidFill>
                <a:effectLst/>
                <a:uFillTx/>
                <a:latin typeface="Calibri"/>
                <a:ea typeface="Calibri"/>
              </a:rPr>
              <a:t>Angular 11 (TypeScript)</a:t>
            </a:r>
            <a:endParaRPr lang="en-US" sz="1300" b="0" u="none" strike="noStrike">
              <a:solidFill>
                <a:srgbClr val="000000"/>
              </a:solidFill>
              <a:effectLst/>
              <a:uFillTx/>
              <a:latin typeface="Arial"/>
            </a:endParaRPr>
          </a:p>
          <a:p>
            <a:pPr marL="343080" indent="-343080" defTabSz="914400">
              <a:lnSpc>
                <a:spcPct val="100000"/>
              </a:lnSpc>
              <a:spcAft>
                <a:spcPts val="1001"/>
              </a:spcAft>
              <a:buClr>
                <a:srgbClr val="0F172B"/>
              </a:buClr>
              <a:buFont typeface="Symbol" charset="2"/>
              <a:buChar char=""/>
            </a:pPr>
            <a:r>
              <a:rPr lang="en-US" sz="1300" b="0" u="none" strike="noStrike">
                <a:solidFill>
                  <a:srgbClr val="0F172B"/>
                </a:solidFill>
                <a:effectLst/>
                <a:uFillTx/>
                <a:latin typeface="Calibri"/>
                <a:ea typeface="Calibri"/>
              </a:rPr>
              <a:t>RxJS — BehaviorSubject for cart &amp; notification state</a:t>
            </a:r>
            <a:endParaRPr lang="en-US" sz="1300" b="0" u="none" strike="noStrike">
              <a:solidFill>
                <a:srgbClr val="000000"/>
              </a:solidFill>
              <a:effectLst/>
              <a:uFillTx/>
              <a:latin typeface="Arial"/>
            </a:endParaRPr>
          </a:p>
          <a:p>
            <a:pPr marL="343080" indent="-343080" defTabSz="914400">
              <a:lnSpc>
                <a:spcPct val="100000"/>
              </a:lnSpc>
              <a:spcAft>
                <a:spcPts val="1001"/>
              </a:spcAft>
              <a:buClr>
                <a:srgbClr val="0F172B"/>
              </a:buClr>
              <a:buFont typeface="Symbol" charset="2"/>
              <a:buChar char=""/>
            </a:pPr>
            <a:r>
              <a:rPr lang="en-US" sz="1300" b="0" u="none" strike="noStrike">
                <a:solidFill>
                  <a:srgbClr val="0F172B"/>
                </a:solidFill>
                <a:effectLst/>
                <a:uFillTx/>
                <a:latin typeface="Calibri"/>
                <a:ea typeface="Calibri"/>
              </a:rPr>
              <a:t>Angular Router with route Guards</a:t>
            </a:r>
            <a:endParaRPr lang="en-US" sz="1300" b="0" u="none" strike="noStrike">
              <a:solidFill>
                <a:srgbClr val="000000"/>
              </a:solidFill>
              <a:effectLst/>
              <a:uFillTx/>
              <a:latin typeface="Arial"/>
            </a:endParaRPr>
          </a:p>
          <a:p>
            <a:pPr marL="343080" indent="-343080" defTabSz="914400">
              <a:lnSpc>
                <a:spcPct val="100000"/>
              </a:lnSpc>
              <a:spcAft>
                <a:spcPts val="1001"/>
              </a:spcAft>
              <a:buClr>
                <a:srgbClr val="0F172B"/>
              </a:buClr>
              <a:buFont typeface="Symbol" charset="2"/>
              <a:buChar char=""/>
            </a:pPr>
            <a:r>
              <a:rPr lang="en-US" sz="1300" b="0" u="none" strike="noStrike">
                <a:solidFill>
                  <a:srgbClr val="0F172B"/>
                </a:solidFill>
                <a:effectLst/>
                <a:uFillTx/>
                <a:latin typeface="Calibri"/>
                <a:ea typeface="Calibri"/>
              </a:rPr>
              <a:t>HttpClient + JWT Auth Interceptor</a:t>
            </a:r>
            <a:endParaRPr lang="en-US" sz="1300" b="0" u="none" strike="noStrike">
              <a:solidFill>
                <a:srgbClr val="000000"/>
              </a:solidFill>
              <a:effectLst/>
              <a:uFillTx/>
              <a:latin typeface="Arial"/>
            </a:endParaRPr>
          </a:p>
          <a:p>
            <a:pPr marL="343080" indent="-343080" defTabSz="914400">
              <a:lnSpc>
                <a:spcPct val="100000"/>
              </a:lnSpc>
              <a:spcAft>
                <a:spcPts val="1001"/>
              </a:spcAft>
              <a:buClr>
                <a:srgbClr val="0F172B"/>
              </a:buClr>
              <a:buFont typeface="Symbol" charset="2"/>
              <a:buChar char=""/>
            </a:pPr>
            <a:r>
              <a:rPr lang="en-US" sz="1300" b="0" u="none" strike="noStrike">
                <a:solidFill>
                  <a:srgbClr val="0F172B"/>
                </a:solidFill>
                <a:effectLst/>
                <a:uFillTx/>
                <a:latin typeface="Calibri"/>
                <a:ea typeface="Calibri"/>
              </a:rPr>
              <a:t>Reactive Forms (signup, profile validation)</a:t>
            </a:r>
            <a:endParaRPr lang="en-US" sz="1300" b="0" u="none" strike="noStrike">
              <a:solidFill>
                <a:srgbClr val="000000"/>
              </a:solidFill>
              <a:effectLst/>
              <a:uFillTx/>
              <a:latin typeface="Arial"/>
            </a:endParaRPr>
          </a:p>
          <a:p>
            <a:pPr marL="343080" indent="-343080" defTabSz="914400">
              <a:lnSpc>
                <a:spcPct val="100000"/>
              </a:lnSpc>
              <a:spcAft>
                <a:spcPts val="1001"/>
              </a:spcAft>
              <a:buClr>
                <a:srgbClr val="0F172B"/>
              </a:buClr>
              <a:buFont typeface="Symbol" charset="2"/>
              <a:buChar char=""/>
            </a:pPr>
            <a:r>
              <a:rPr lang="en-US" sz="1300" b="0" u="none" strike="noStrike">
                <a:solidFill>
                  <a:srgbClr val="0F172B"/>
                </a:solidFill>
                <a:effectLst/>
                <a:uFillTx/>
                <a:latin typeface="Calibri"/>
                <a:ea typeface="Calibri"/>
              </a:rPr>
              <a:t>Bootstrap-based UI + ng-bootstrap pagination</a:t>
            </a:r>
            <a:endParaRPr lang="en-US" sz="1300" b="0" u="none" strike="noStrike">
              <a:solidFill>
                <a:srgbClr val="000000"/>
              </a:solidFill>
              <a:effectLst/>
              <a:uFillTx/>
              <a:latin typeface="Arial"/>
            </a:endParaRPr>
          </a:p>
          <a:p>
            <a:pPr marL="343080" indent="-343080" defTabSz="914400">
              <a:lnSpc>
                <a:spcPct val="100000"/>
              </a:lnSpc>
              <a:spcAft>
                <a:spcPts val="1001"/>
              </a:spcAft>
              <a:buClr>
                <a:srgbClr val="0F172B"/>
              </a:buClr>
              <a:buFont typeface="Symbol" charset="2"/>
              <a:buChar char=""/>
            </a:pPr>
            <a:r>
              <a:rPr lang="en-US" sz="1300" b="0" u="none" strike="noStrike">
                <a:solidFill>
                  <a:srgbClr val="0F172B"/>
                </a:solidFill>
                <a:effectLst/>
                <a:uFillTx/>
                <a:latin typeface="Calibri"/>
                <a:ea typeface="Calibri"/>
              </a:rPr>
              <a:t>20+ standalone components (products, cart, admin, etc.)</a:t>
            </a:r>
            <a:endParaRPr lang="en-US" sz="1300" b="0" u="none" strike="noStrike">
              <a:solidFill>
                <a:srgbClr val="000000"/>
              </a:solidFill>
              <a:effectLst/>
              <a:uFillTx/>
              <a:latin typeface="Arial"/>
            </a:endParaRPr>
          </a:p>
        </p:txBody>
      </p:sp>
      <p:sp>
        <p:nvSpPr>
          <p:cNvPr id="40" name="Text 7"/>
          <p:cNvSpPr/>
          <p:nvPr/>
        </p:nvSpPr>
        <p:spPr>
          <a:xfrm>
            <a:off x="548640" y="647388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7AEB8"/>
                </a:solidFill>
                <a:effectLst/>
                <a:uFillTx/>
                <a:latin typeface="Calibri"/>
                <a:ea typeface="Calibri"/>
              </a:rPr>
              <a:t>Restaurant 905</a:t>
            </a:r>
            <a:endParaRPr lang="en-US" sz="900" b="0" u="none" strike="noStrike">
              <a:solidFill>
                <a:srgbClr val="000000"/>
              </a:solidFill>
              <a:effectLst/>
              <a:uFillTx/>
              <a:latin typeface="Arial"/>
            </a:endParaRPr>
          </a:p>
        </p:txBody>
      </p:sp>
      <p:sp>
        <p:nvSpPr>
          <p:cNvPr id="41" name="Text 8"/>
          <p:cNvSpPr/>
          <p:nvPr/>
        </p:nvSpPr>
        <p:spPr>
          <a:xfrm>
            <a:off x="11091600" y="6473880"/>
            <a:ext cx="5482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A7AEB8"/>
                </a:solidFill>
                <a:effectLst/>
                <a:uFillTx/>
                <a:latin typeface="Calibri"/>
                <a:ea typeface="Calibri"/>
              </a:rPr>
              <a:t>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Text 0"/>
          <p:cNvSpPr/>
          <p:nvPr/>
        </p:nvSpPr>
        <p:spPr>
          <a:xfrm>
            <a:off x="548640" y="41148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F172B"/>
                </a:solidFill>
                <a:effectLst/>
                <a:uFillTx/>
                <a:latin typeface="Cambria"/>
                <a:ea typeface="Cambria"/>
              </a:rPr>
              <a:t>Architecture — Request Flow</a:t>
            </a:r>
            <a:endParaRPr lang="en-US" sz="3000" b="0" u="none" strike="noStrike">
              <a:solidFill>
                <a:srgbClr val="000000"/>
              </a:solidFill>
              <a:effectLst/>
              <a:uFillTx/>
              <a:latin typeface="Arial"/>
            </a:endParaRPr>
          </a:p>
        </p:txBody>
      </p:sp>
      <p:sp>
        <p:nvSpPr>
          <p:cNvPr id="43" name="Shape 1"/>
          <p:cNvSpPr/>
          <p:nvPr/>
        </p:nvSpPr>
        <p:spPr>
          <a:xfrm>
            <a:off x="608040" y="2286000"/>
            <a:ext cx="1691280" cy="1096920"/>
          </a:xfrm>
          <a:prstGeom prst="roundRect">
            <a:avLst>
              <a:gd name="adj" fmla="val 7500"/>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4" name="Text 2"/>
          <p:cNvSpPr/>
          <p:nvPr/>
        </p:nvSpPr>
        <p:spPr>
          <a:xfrm>
            <a:off x="608040" y="2286000"/>
            <a:ext cx="169128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Angular</a:t>
            </a:r>
            <a:endParaRPr lang="en-US" sz="1250" b="0" u="none" strike="noStrike">
              <a:solidFill>
                <a:srgbClr val="000000"/>
              </a:solidFill>
              <a:effectLst/>
              <a:uFillTx/>
              <a:latin typeface="Arial"/>
            </a:endParaRPr>
          </a:p>
          <a:p>
            <a:pPr algn="ctr" defTabSz="914400">
              <a:lnSpc>
                <a:spcPct val="100000"/>
              </a:lnSpc>
              <a:tabLst>
                <a:tab pos="0" algn="l"/>
              </a:tabLst>
            </a:pPr>
            <a:r>
              <a:rPr lang="en-US" sz="1250" b="1" u="none" strike="noStrike">
                <a:solidFill>
                  <a:srgbClr val="FFFFFF"/>
                </a:solidFill>
                <a:effectLst/>
                <a:uFillTx/>
                <a:latin typeface="Calibri"/>
                <a:ea typeface="Calibri"/>
              </a:rPr>
              <a:t>Client</a:t>
            </a:r>
            <a:endParaRPr lang="en-US" sz="1250" b="0" u="none" strike="noStrike">
              <a:solidFill>
                <a:srgbClr val="000000"/>
              </a:solidFill>
              <a:effectLst/>
              <a:uFillTx/>
              <a:latin typeface="Arial"/>
            </a:endParaRPr>
          </a:p>
        </p:txBody>
      </p:sp>
      <p:sp>
        <p:nvSpPr>
          <p:cNvPr id="45" name="Text 3"/>
          <p:cNvSpPr/>
          <p:nvPr/>
        </p:nvSpPr>
        <p:spPr>
          <a:xfrm>
            <a:off x="2299680" y="2286000"/>
            <a:ext cx="16416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6B7480"/>
                </a:solidFill>
                <a:effectLst/>
                <a:uFillTx/>
                <a:latin typeface="Calibri"/>
                <a:ea typeface="Calibri"/>
              </a:rPr>
              <a:t>→</a:t>
            </a:r>
            <a:endParaRPr lang="en-US" sz="1600" b="0" u="none" strike="noStrike">
              <a:solidFill>
                <a:srgbClr val="000000"/>
              </a:solidFill>
              <a:effectLst/>
              <a:uFillTx/>
              <a:latin typeface="Arial"/>
            </a:endParaRPr>
          </a:p>
        </p:txBody>
      </p:sp>
      <p:sp>
        <p:nvSpPr>
          <p:cNvPr id="46" name="Shape 4"/>
          <p:cNvSpPr/>
          <p:nvPr/>
        </p:nvSpPr>
        <p:spPr>
          <a:xfrm>
            <a:off x="2464200" y="2286000"/>
            <a:ext cx="1691280" cy="1096920"/>
          </a:xfrm>
          <a:prstGeom prst="roundRect">
            <a:avLst>
              <a:gd name="adj" fmla="val 7500"/>
            </a:avLst>
          </a:prstGeom>
          <a:solidFill>
            <a:srgbClr val="FEA11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 name="Text 5"/>
          <p:cNvSpPr/>
          <p:nvPr/>
        </p:nvSpPr>
        <p:spPr>
          <a:xfrm>
            <a:off x="2464200" y="2286000"/>
            <a:ext cx="169128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0F172B"/>
                </a:solidFill>
                <a:effectLst/>
                <a:uFillTx/>
                <a:latin typeface="Calibri"/>
                <a:ea typeface="Calibri"/>
              </a:rPr>
              <a:t>JWT Auth</a:t>
            </a:r>
            <a:endParaRPr lang="en-US" sz="1250" b="0" u="none" strike="noStrike">
              <a:solidFill>
                <a:srgbClr val="000000"/>
              </a:solidFill>
              <a:effectLst/>
              <a:uFillTx/>
              <a:latin typeface="Arial"/>
            </a:endParaRPr>
          </a:p>
          <a:p>
            <a:pPr algn="ctr" defTabSz="914400">
              <a:lnSpc>
                <a:spcPct val="100000"/>
              </a:lnSpc>
              <a:tabLst>
                <a:tab pos="0" algn="l"/>
              </a:tabLst>
            </a:pPr>
            <a:r>
              <a:rPr lang="en-US" sz="1250" b="1" u="none" strike="noStrike">
                <a:solidFill>
                  <a:srgbClr val="0F172B"/>
                </a:solidFill>
                <a:effectLst/>
                <a:uFillTx/>
                <a:latin typeface="Calibri"/>
                <a:ea typeface="Calibri"/>
              </a:rPr>
              <a:t>Filter</a:t>
            </a:r>
            <a:endParaRPr lang="en-US" sz="1250" b="0" u="none" strike="noStrike">
              <a:solidFill>
                <a:srgbClr val="000000"/>
              </a:solidFill>
              <a:effectLst/>
              <a:uFillTx/>
              <a:latin typeface="Arial"/>
            </a:endParaRPr>
          </a:p>
        </p:txBody>
      </p:sp>
      <p:sp>
        <p:nvSpPr>
          <p:cNvPr id="48" name="Text 6"/>
          <p:cNvSpPr/>
          <p:nvPr/>
        </p:nvSpPr>
        <p:spPr>
          <a:xfrm>
            <a:off x="4155840" y="2286000"/>
            <a:ext cx="16416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6B7480"/>
                </a:solidFill>
                <a:effectLst/>
                <a:uFillTx/>
                <a:latin typeface="Calibri"/>
                <a:ea typeface="Calibri"/>
              </a:rPr>
              <a:t>→</a:t>
            </a:r>
            <a:endParaRPr lang="en-US" sz="1600" b="0" u="none" strike="noStrike">
              <a:solidFill>
                <a:srgbClr val="000000"/>
              </a:solidFill>
              <a:effectLst/>
              <a:uFillTx/>
              <a:latin typeface="Arial"/>
            </a:endParaRPr>
          </a:p>
        </p:txBody>
      </p:sp>
      <p:sp>
        <p:nvSpPr>
          <p:cNvPr id="49" name="Shape 7"/>
          <p:cNvSpPr/>
          <p:nvPr/>
        </p:nvSpPr>
        <p:spPr>
          <a:xfrm>
            <a:off x="4320720" y="2286000"/>
            <a:ext cx="1691280" cy="1096920"/>
          </a:xfrm>
          <a:prstGeom prst="roundRect">
            <a:avLst>
              <a:gd name="adj" fmla="val 7500"/>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0" name="Text 8"/>
          <p:cNvSpPr/>
          <p:nvPr/>
        </p:nvSpPr>
        <p:spPr>
          <a:xfrm>
            <a:off x="4320720" y="2286000"/>
            <a:ext cx="169128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Controller</a:t>
            </a:r>
            <a:endParaRPr lang="en-US" sz="1250" b="0" u="none" strike="noStrike">
              <a:solidFill>
                <a:srgbClr val="000000"/>
              </a:solidFill>
              <a:effectLst/>
              <a:uFillTx/>
              <a:latin typeface="Arial"/>
            </a:endParaRPr>
          </a:p>
        </p:txBody>
      </p:sp>
      <p:sp>
        <p:nvSpPr>
          <p:cNvPr id="51" name="Text 9"/>
          <p:cNvSpPr/>
          <p:nvPr/>
        </p:nvSpPr>
        <p:spPr>
          <a:xfrm>
            <a:off x="6012360" y="2286000"/>
            <a:ext cx="16416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6B7480"/>
                </a:solidFill>
                <a:effectLst/>
                <a:uFillTx/>
                <a:latin typeface="Calibri"/>
                <a:ea typeface="Calibri"/>
              </a:rPr>
              <a:t>→</a:t>
            </a:r>
            <a:endParaRPr lang="en-US" sz="1600" b="0" u="none" strike="noStrike">
              <a:solidFill>
                <a:srgbClr val="000000"/>
              </a:solidFill>
              <a:effectLst/>
              <a:uFillTx/>
              <a:latin typeface="Arial"/>
            </a:endParaRPr>
          </a:p>
        </p:txBody>
      </p:sp>
      <p:sp>
        <p:nvSpPr>
          <p:cNvPr id="52" name="Shape 10"/>
          <p:cNvSpPr/>
          <p:nvPr/>
        </p:nvSpPr>
        <p:spPr>
          <a:xfrm>
            <a:off x="6176880" y="2286000"/>
            <a:ext cx="1691280" cy="1096920"/>
          </a:xfrm>
          <a:prstGeom prst="roundRect">
            <a:avLst>
              <a:gd name="adj" fmla="val 7500"/>
            </a:avLst>
          </a:prstGeom>
          <a:solidFill>
            <a:srgbClr val="FEA11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 name="Text 11"/>
          <p:cNvSpPr/>
          <p:nvPr/>
        </p:nvSpPr>
        <p:spPr>
          <a:xfrm>
            <a:off x="6176880" y="2286000"/>
            <a:ext cx="169128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0F172B"/>
                </a:solidFill>
                <a:effectLst/>
                <a:uFillTx/>
                <a:latin typeface="Calibri"/>
                <a:ea typeface="Calibri"/>
              </a:rPr>
              <a:t>Service</a:t>
            </a:r>
            <a:endParaRPr lang="en-US" sz="1250" b="0" u="none" strike="noStrike">
              <a:solidFill>
                <a:srgbClr val="000000"/>
              </a:solidFill>
              <a:effectLst/>
              <a:uFillTx/>
              <a:latin typeface="Arial"/>
            </a:endParaRPr>
          </a:p>
          <a:p>
            <a:pPr algn="ctr" defTabSz="914400">
              <a:lnSpc>
                <a:spcPct val="100000"/>
              </a:lnSpc>
              <a:tabLst>
                <a:tab pos="0" algn="l"/>
              </a:tabLst>
            </a:pPr>
            <a:r>
              <a:rPr lang="en-US" sz="1250" b="1" u="none" strike="noStrike">
                <a:solidFill>
                  <a:srgbClr val="0F172B"/>
                </a:solidFill>
                <a:effectLst/>
                <a:uFillTx/>
                <a:latin typeface="Calibri"/>
                <a:ea typeface="Calibri"/>
              </a:rPr>
              <a:t>Layer</a:t>
            </a:r>
            <a:endParaRPr lang="en-US" sz="1250" b="0" u="none" strike="noStrike">
              <a:solidFill>
                <a:srgbClr val="000000"/>
              </a:solidFill>
              <a:effectLst/>
              <a:uFillTx/>
              <a:latin typeface="Arial"/>
            </a:endParaRPr>
          </a:p>
        </p:txBody>
      </p:sp>
      <p:sp>
        <p:nvSpPr>
          <p:cNvPr id="54" name="Text 12"/>
          <p:cNvSpPr/>
          <p:nvPr/>
        </p:nvSpPr>
        <p:spPr>
          <a:xfrm>
            <a:off x="7868520" y="2286000"/>
            <a:ext cx="16416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6B7480"/>
                </a:solidFill>
                <a:effectLst/>
                <a:uFillTx/>
                <a:latin typeface="Calibri"/>
                <a:ea typeface="Calibri"/>
              </a:rPr>
              <a:t>→</a:t>
            </a:r>
            <a:endParaRPr lang="en-US" sz="1600" b="0" u="none" strike="noStrike">
              <a:solidFill>
                <a:srgbClr val="000000"/>
              </a:solidFill>
              <a:effectLst/>
              <a:uFillTx/>
              <a:latin typeface="Arial"/>
            </a:endParaRPr>
          </a:p>
        </p:txBody>
      </p:sp>
      <p:sp>
        <p:nvSpPr>
          <p:cNvPr id="55" name="Shape 13"/>
          <p:cNvSpPr/>
          <p:nvPr/>
        </p:nvSpPr>
        <p:spPr>
          <a:xfrm>
            <a:off x="8033040" y="2286000"/>
            <a:ext cx="1691280" cy="1096920"/>
          </a:xfrm>
          <a:prstGeom prst="roundRect">
            <a:avLst>
              <a:gd name="adj" fmla="val 7500"/>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6" name="Text 14"/>
          <p:cNvSpPr/>
          <p:nvPr/>
        </p:nvSpPr>
        <p:spPr>
          <a:xfrm>
            <a:off x="8033040" y="2286000"/>
            <a:ext cx="169128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Repository</a:t>
            </a:r>
            <a:endParaRPr lang="en-US" sz="1250" b="0" u="none" strike="noStrike">
              <a:solidFill>
                <a:srgbClr val="000000"/>
              </a:solidFill>
              <a:effectLst/>
              <a:uFillTx/>
              <a:latin typeface="Arial"/>
            </a:endParaRPr>
          </a:p>
          <a:p>
            <a:pPr algn="ctr" defTabSz="914400">
              <a:lnSpc>
                <a:spcPct val="100000"/>
              </a:lnSpc>
              <a:tabLst>
                <a:tab pos="0" algn="l"/>
              </a:tabLst>
            </a:pPr>
            <a:r>
              <a:rPr lang="en-US" sz="1250" b="1" u="none" strike="noStrike">
                <a:solidFill>
                  <a:srgbClr val="FFFFFF"/>
                </a:solidFill>
                <a:effectLst/>
                <a:uFillTx/>
                <a:latin typeface="Calibri"/>
                <a:ea typeface="Calibri"/>
              </a:rPr>
              <a:t>(JPA)</a:t>
            </a:r>
            <a:endParaRPr lang="en-US" sz="1250" b="0" u="none" strike="noStrike">
              <a:solidFill>
                <a:srgbClr val="000000"/>
              </a:solidFill>
              <a:effectLst/>
              <a:uFillTx/>
              <a:latin typeface="Arial"/>
            </a:endParaRPr>
          </a:p>
        </p:txBody>
      </p:sp>
      <p:sp>
        <p:nvSpPr>
          <p:cNvPr id="57" name="Text 15"/>
          <p:cNvSpPr/>
          <p:nvPr/>
        </p:nvSpPr>
        <p:spPr>
          <a:xfrm>
            <a:off x="9724680" y="2286000"/>
            <a:ext cx="16416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6B7480"/>
                </a:solidFill>
                <a:effectLst/>
                <a:uFillTx/>
                <a:latin typeface="Calibri"/>
                <a:ea typeface="Calibri"/>
              </a:rPr>
              <a:t>→</a:t>
            </a:r>
            <a:endParaRPr lang="en-US" sz="1600" b="0" u="none" strike="noStrike">
              <a:solidFill>
                <a:srgbClr val="000000"/>
              </a:solidFill>
              <a:effectLst/>
              <a:uFillTx/>
              <a:latin typeface="Arial"/>
            </a:endParaRPr>
          </a:p>
        </p:txBody>
      </p:sp>
      <p:sp>
        <p:nvSpPr>
          <p:cNvPr id="58" name="Shape 16"/>
          <p:cNvSpPr/>
          <p:nvPr/>
        </p:nvSpPr>
        <p:spPr>
          <a:xfrm>
            <a:off x="9889200" y="2286000"/>
            <a:ext cx="1691280" cy="1096920"/>
          </a:xfrm>
          <a:prstGeom prst="roundRect">
            <a:avLst>
              <a:gd name="adj" fmla="val 7500"/>
            </a:avLst>
          </a:prstGeom>
          <a:solidFill>
            <a:srgbClr val="FEA11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9" name="Text 17"/>
          <p:cNvSpPr/>
          <p:nvPr/>
        </p:nvSpPr>
        <p:spPr>
          <a:xfrm>
            <a:off x="9889200" y="2286000"/>
            <a:ext cx="1691280" cy="1096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0F172B"/>
                </a:solidFill>
                <a:effectLst/>
                <a:uFillTx/>
                <a:latin typeface="Calibri"/>
                <a:ea typeface="Calibri"/>
              </a:rPr>
              <a:t>Oracle</a:t>
            </a:r>
            <a:endParaRPr lang="en-US" sz="1250" b="0" u="none" strike="noStrike">
              <a:solidFill>
                <a:srgbClr val="000000"/>
              </a:solidFill>
              <a:effectLst/>
              <a:uFillTx/>
              <a:latin typeface="Arial"/>
            </a:endParaRPr>
          </a:p>
          <a:p>
            <a:pPr algn="ctr" defTabSz="914400">
              <a:lnSpc>
                <a:spcPct val="100000"/>
              </a:lnSpc>
              <a:tabLst>
                <a:tab pos="0" algn="l"/>
              </a:tabLst>
            </a:pPr>
            <a:r>
              <a:rPr lang="en-US" sz="1250" b="1" u="none" strike="noStrike">
                <a:solidFill>
                  <a:srgbClr val="0F172B"/>
                </a:solidFill>
                <a:effectLst/>
                <a:uFillTx/>
                <a:latin typeface="Calibri"/>
                <a:ea typeface="Calibri"/>
              </a:rPr>
              <a:t>Database</a:t>
            </a:r>
            <a:endParaRPr lang="en-US" sz="1250" b="0" u="none" strike="noStrike">
              <a:solidFill>
                <a:srgbClr val="000000"/>
              </a:solidFill>
              <a:effectLst/>
              <a:uFillTx/>
              <a:latin typeface="Arial"/>
            </a:endParaRPr>
          </a:p>
        </p:txBody>
      </p:sp>
      <p:sp>
        <p:nvSpPr>
          <p:cNvPr id="60" name="Text 18"/>
          <p:cNvSpPr/>
          <p:nvPr/>
        </p:nvSpPr>
        <p:spPr>
          <a:xfrm>
            <a:off x="1097280" y="3886200"/>
            <a:ext cx="999396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i="1" u="none" strike="noStrike">
                <a:solidFill>
                  <a:srgbClr val="6B7480"/>
                </a:solidFill>
                <a:effectLst/>
                <a:uFillTx/>
                <a:latin typeface="Calibri"/>
                <a:ea typeface="Calibri"/>
              </a:rPr>
              <a:t>Requests carry a Bearer JWT (except public endpoints). DTOs and View Models (VMs) are mapped to/from entities with MapStruct between the Controller and Service layers.</a:t>
            </a:r>
            <a:endParaRPr lang="en-US" sz="1300" b="0" u="none" strike="noStrike">
              <a:solidFill>
                <a:srgbClr val="000000"/>
              </a:solidFill>
              <a:effectLst/>
              <a:uFillTx/>
              <a:latin typeface="Arial"/>
            </a:endParaRPr>
          </a:p>
        </p:txBody>
      </p:sp>
      <p:sp>
        <p:nvSpPr>
          <p:cNvPr id="61" name="Shape 19"/>
          <p:cNvSpPr/>
          <p:nvPr/>
        </p:nvSpPr>
        <p:spPr>
          <a:xfrm>
            <a:off x="1463040" y="4800600"/>
            <a:ext cx="9262440" cy="1279800"/>
          </a:xfrm>
          <a:prstGeom prst="roundRect">
            <a:avLst>
              <a:gd name="adj" fmla="val 5714"/>
            </a:avLst>
          </a:prstGeom>
          <a:solidFill>
            <a:srgbClr val="EE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 name="Text 20"/>
          <p:cNvSpPr/>
          <p:nvPr/>
        </p:nvSpPr>
        <p:spPr>
          <a:xfrm>
            <a:off x="1737360" y="4937760"/>
            <a:ext cx="871380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0F172B"/>
                </a:solidFill>
                <a:effectLst/>
                <a:uFillTx/>
                <a:latin typeface="Calibri"/>
                <a:ea typeface="Calibri"/>
              </a:rPr>
              <a:t>Public endpoints (no token required):</a:t>
            </a:r>
            <a:endParaRPr lang="en-US" sz="1250" b="0" u="none" strike="noStrike">
              <a:solidFill>
                <a:srgbClr val="000000"/>
              </a:solidFill>
              <a:effectLst/>
              <a:uFillTx/>
              <a:latin typeface="Arial"/>
            </a:endParaRPr>
          </a:p>
        </p:txBody>
      </p:sp>
      <p:sp>
        <p:nvSpPr>
          <p:cNvPr id="63" name="Text 21"/>
          <p:cNvSpPr/>
          <p:nvPr/>
        </p:nvSpPr>
        <p:spPr>
          <a:xfrm>
            <a:off x="1737360" y="5349240"/>
            <a:ext cx="871380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3B4453"/>
                </a:solidFill>
                <a:effectLst/>
                <a:uFillTx/>
                <a:latin typeface="Courier New"/>
                <a:ea typeface="Courier New"/>
              </a:rPr>
              <a:t>/auth/**    •    /products/**    •    /categories/**    •    /swagger-ui/**    •    /v3/**</a:t>
            </a:r>
            <a:endParaRPr lang="en-US" sz="1250" b="0" u="none" strike="noStrike">
              <a:solidFill>
                <a:srgbClr val="000000"/>
              </a:solidFill>
              <a:effectLst/>
              <a:uFillTx/>
              <a:latin typeface="Arial"/>
            </a:endParaRPr>
          </a:p>
        </p:txBody>
      </p:sp>
      <p:sp>
        <p:nvSpPr>
          <p:cNvPr id="64" name="Text 22"/>
          <p:cNvSpPr/>
          <p:nvPr/>
        </p:nvSpPr>
        <p:spPr>
          <a:xfrm>
            <a:off x="548640" y="647388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7AEB8"/>
                </a:solidFill>
                <a:effectLst/>
                <a:uFillTx/>
                <a:latin typeface="Calibri"/>
                <a:ea typeface="Calibri"/>
              </a:rPr>
              <a:t>Restaurant 905</a:t>
            </a:r>
            <a:endParaRPr lang="en-US" sz="900" b="0" u="none" strike="noStrike">
              <a:solidFill>
                <a:srgbClr val="000000"/>
              </a:solidFill>
              <a:effectLst/>
              <a:uFillTx/>
              <a:latin typeface="Arial"/>
            </a:endParaRPr>
          </a:p>
        </p:txBody>
      </p:sp>
      <p:sp>
        <p:nvSpPr>
          <p:cNvPr id="65" name="Text 23"/>
          <p:cNvSpPr/>
          <p:nvPr/>
        </p:nvSpPr>
        <p:spPr>
          <a:xfrm>
            <a:off x="11091600" y="6473880"/>
            <a:ext cx="5482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A7AEB8"/>
                </a:solidFill>
                <a:effectLst/>
                <a:uFillTx/>
                <a:latin typeface="Calibri"/>
                <a:ea typeface="Calibri"/>
              </a:rPr>
              <a:t>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Text 0"/>
          <p:cNvSpPr/>
          <p:nvPr/>
        </p:nvSpPr>
        <p:spPr>
          <a:xfrm>
            <a:off x="548640" y="41148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F172B"/>
                </a:solidFill>
                <a:effectLst/>
                <a:uFillTx/>
                <a:latin typeface="Cambria"/>
                <a:ea typeface="Cambria"/>
              </a:rPr>
              <a:t>Key Features</a:t>
            </a:r>
            <a:endParaRPr lang="en-US" sz="3000" b="0" u="none" strike="noStrike">
              <a:solidFill>
                <a:srgbClr val="000000"/>
              </a:solidFill>
              <a:effectLst/>
              <a:uFillTx/>
              <a:latin typeface="Arial"/>
            </a:endParaRPr>
          </a:p>
        </p:txBody>
      </p:sp>
      <p:sp>
        <p:nvSpPr>
          <p:cNvPr id="67" name="Shape 1"/>
          <p:cNvSpPr/>
          <p:nvPr/>
        </p:nvSpPr>
        <p:spPr>
          <a:xfrm>
            <a:off x="548640" y="1508760"/>
            <a:ext cx="3520080" cy="1965600"/>
          </a:xfrm>
          <a:prstGeom prst="roundRect">
            <a:avLst>
              <a:gd name="adj" fmla="val 3721"/>
            </a:avLst>
          </a:prstGeom>
          <a:solidFill>
            <a:srgbClr val="EE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8" name="Shape 2"/>
          <p:cNvSpPr/>
          <p:nvPr/>
        </p:nvSpPr>
        <p:spPr>
          <a:xfrm>
            <a:off x="804600" y="1764720"/>
            <a:ext cx="456840" cy="456840"/>
          </a:xfrm>
          <a:prstGeom prst="ellipse">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9" name="Text 3"/>
          <p:cNvSpPr/>
          <p:nvPr/>
        </p:nvSpPr>
        <p:spPr>
          <a:xfrm>
            <a:off x="804600" y="17647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1</a:t>
            </a:r>
            <a:endParaRPr lang="en-US" sz="1400" b="0" u="none" strike="noStrike">
              <a:solidFill>
                <a:srgbClr val="000000"/>
              </a:solidFill>
              <a:effectLst/>
              <a:uFillTx/>
              <a:latin typeface="Arial"/>
            </a:endParaRPr>
          </a:p>
        </p:txBody>
      </p:sp>
      <p:sp>
        <p:nvSpPr>
          <p:cNvPr id="70" name="Text 4"/>
          <p:cNvSpPr/>
          <p:nvPr/>
        </p:nvSpPr>
        <p:spPr>
          <a:xfrm>
            <a:off x="804600" y="2377440"/>
            <a:ext cx="30081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0F172B"/>
                </a:solidFill>
                <a:effectLst/>
                <a:uFillTx/>
                <a:latin typeface="Calibri"/>
                <a:ea typeface="Calibri"/>
              </a:rPr>
              <a:t>Authentication &amp; Roles</a:t>
            </a:r>
            <a:endParaRPr lang="en-US" sz="1450" b="0" u="none" strike="noStrike">
              <a:solidFill>
                <a:srgbClr val="000000"/>
              </a:solidFill>
              <a:effectLst/>
              <a:uFillTx/>
              <a:latin typeface="Arial"/>
            </a:endParaRPr>
          </a:p>
        </p:txBody>
      </p:sp>
      <p:sp>
        <p:nvSpPr>
          <p:cNvPr id="71" name="Text 5"/>
          <p:cNvSpPr/>
          <p:nvPr/>
        </p:nvSpPr>
        <p:spPr>
          <a:xfrm>
            <a:off x="804600" y="2807280"/>
            <a:ext cx="300816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3B4453"/>
                </a:solidFill>
                <a:effectLst/>
                <a:uFillTx/>
                <a:latin typeface="Calibri"/>
                <a:ea typeface="Calibri"/>
              </a:rPr>
              <a:t>JWT-based sign-up / login with Admin and Customer roles.</a:t>
            </a:r>
            <a:endParaRPr lang="en-US" sz="1100" b="0" u="none" strike="noStrike">
              <a:solidFill>
                <a:srgbClr val="000000"/>
              </a:solidFill>
              <a:effectLst/>
              <a:uFillTx/>
              <a:latin typeface="Arial"/>
            </a:endParaRPr>
          </a:p>
        </p:txBody>
      </p:sp>
      <p:sp>
        <p:nvSpPr>
          <p:cNvPr id="72" name="Shape 6"/>
          <p:cNvSpPr/>
          <p:nvPr/>
        </p:nvSpPr>
        <p:spPr>
          <a:xfrm>
            <a:off x="4334400" y="1508760"/>
            <a:ext cx="3520080" cy="1965600"/>
          </a:xfrm>
          <a:prstGeom prst="roundRect">
            <a:avLst>
              <a:gd name="adj" fmla="val 3721"/>
            </a:avLst>
          </a:prstGeom>
          <a:solidFill>
            <a:srgbClr val="EE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3" name="Shape 7"/>
          <p:cNvSpPr/>
          <p:nvPr/>
        </p:nvSpPr>
        <p:spPr>
          <a:xfrm>
            <a:off x="4590360" y="1764720"/>
            <a:ext cx="456840" cy="456840"/>
          </a:xfrm>
          <a:prstGeom prst="ellipse">
            <a:avLst/>
          </a:prstGeom>
          <a:solidFill>
            <a:srgbClr val="FEA11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4" name="Text 8"/>
          <p:cNvSpPr/>
          <p:nvPr/>
        </p:nvSpPr>
        <p:spPr>
          <a:xfrm>
            <a:off x="4590360" y="17647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2</a:t>
            </a:r>
            <a:endParaRPr lang="en-US" sz="1400" b="0" u="none" strike="noStrike">
              <a:solidFill>
                <a:srgbClr val="000000"/>
              </a:solidFill>
              <a:effectLst/>
              <a:uFillTx/>
              <a:latin typeface="Arial"/>
            </a:endParaRPr>
          </a:p>
        </p:txBody>
      </p:sp>
      <p:sp>
        <p:nvSpPr>
          <p:cNvPr id="75" name="Text 9"/>
          <p:cNvSpPr/>
          <p:nvPr/>
        </p:nvSpPr>
        <p:spPr>
          <a:xfrm>
            <a:off x="4590360" y="2377440"/>
            <a:ext cx="30081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0F172B"/>
                </a:solidFill>
                <a:effectLst/>
                <a:uFillTx/>
                <a:latin typeface="Calibri"/>
                <a:ea typeface="Calibri"/>
              </a:rPr>
              <a:t>Product Catalog</a:t>
            </a:r>
            <a:endParaRPr lang="en-US" sz="1450" b="0" u="none" strike="noStrike">
              <a:solidFill>
                <a:srgbClr val="000000"/>
              </a:solidFill>
              <a:effectLst/>
              <a:uFillTx/>
              <a:latin typeface="Arial"/>
            </a:endParaRPr>
          </a:p>
        </p:txBody>
      </p:sp>
      <p:sp>
        <p:nvSpPr>
          <p:cNvPr id="76" name="Text 10"/>
          <p:cNvSpPr/>
          <p:nvPr/>
        </p:nvSpPr>
        <p:spPr>
          <a:xfrm>
            <a:off x="4590360" y="2807280"/>
            <a:ext cx="300816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3B4453"/>
                </a:solidFill>
                <a:effectLst/>
                <a:uFillTx/>
                <a:latin typeface="Calibri"/>
                <a:ea typeface="Calibri"/>
              </a:rPr>
              <a:t>Browse by category, search by keyword, paginated results.</a:t>
            </a:r>
            <a:endParaRPr lang="en-US" sz="1100" b="0" u="none" strike="noStrike">
              <a:solidFill>
                <a:srgbClr val="000000"/>
              </a:solidFill>
              <a:effectLst/>
              <a:uFillTx/>
              <a:latin typeface="Arial"/>
            </a:endParaRPr>
          </a:p>
        </p:txBody>
      </p:sp>
      <p:sp>
        <p:nvSpPr>
          <p:cNvPr id="77" name="Shape 11"/>
          <p:cNvSpPr/>
          <p:nvPr/>
        </p:nvSpPr>
        <p:spPr>
          <a:xfrm>
            <a:off x="8119800" y="1508760"/>
            <a:ext cx="3520080" cy="1965600"/>
          </a:xfrm>
          <a:prstGeom prst="roundRect">
            <a:avLst>
              <a:gd name="adj" fmla="val 3721"/>
            </a:avLst>
          </a:prstGeom>
          <a:solidFill>
            <a:srgbClr val="EE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8" name="Shape 12"/>
          <p:cNvSpPr/>
          <p:nvPr/>
        </p:nvSpPr>
        <p:spPr>
          <a:xfrm>
            <a:off x="8375760" y="1764720"/>
            <a:ext cx="456840" cy="456840"/>
          </a:xfrm>
          <a:prstGeom prst="ellipse">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9" name="Text 13"/>
          <p:cNvSpPr/>
          <p:nvPr/>
        </p:nvSpPr>
        <p:spPr>
          <a:xfrm>
            <a:off x="8375760" y="17647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3</a:t>
            </a:r>
            <a:endParaRPr lang="en-US" sz="1400" b="0" u="none" strike="noStrike">
              <a:solidFill>
                <a:srgbClr val="000000"/>
              </a:solidFill>
              <a:effectLst/>
              <a:uFillTx/>
              <a:latin typeface="Arial"/>
            </a:endParaRPr>
          </a:p>
        </p:txBody>
      </p:sp>
      <p:sp>
        <p:nvSpPr>
          <p:cNvPr id="80" name="Text 14"/>
          <p:cNvSpPr/>
          <p:nvPr/>
        </p:nvSpPr>
        <p:spPr>
          <a:xfrm>
            <a:off x="8375760" y="2377440"/>
            <a:ext cx="30081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0F172B"/>
                </a:solidFill>
                <a:effectLst/>
                <a:uFillTx/>
                <a:latin typeface="Calibri"/>
                <a:ea typeface="Calibri"/>
              </a:rPr>
              <a:t>Shopping Cart &amp; Checkout</a:t>
            </a:r>
            <a:endParaRPr lang="en-US" sz="1450" b="0" u="none" strike="noStrike">
              <a:solidFill>
                <a:srgbClr val="000000"/>
              </a:solidFill>
              <a:effectLst/>
              <a:uFillTx/>
              <a:latin typeface="Arial"/>
            </a:endParaRPr>
          </a:p>
        </p:txBody>
      </p:sp>
      <p:sp>
        <p:nvSpPr>
          <p:cNvPr id="81" name="Text 15"/>
          <p:cNvSpPr/>
          <p:nvPr/>
        </p:nvSpPr>
        <p:spPr>
          <a:xfrm>
            <a:off x="8375760" y="2807280"/>
            <a:ext cx="300816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3B4453"/>
                </a:solidFill>
                <a:effectLst/>
                <a:uFillTx/>
                <a:latin typeface="Calibri"/>
                <a:ea typeface="Calibri"/>
              </a:rPr>
              <a:t>Add items, review the cart, and place an order.</a:t>
            </a:r>
            <a:endParaRPr lang="en-US" sz="1100" b="0" u="none" strike="noStrike">
              <a:solidFill>
                <a:srgbClr val="000000"/>
              </a:solidFill>
              <a:effectLst/>
              <a:uFillTx/>
              <a:latin typeface="Arial"/>
            </a:endParaRPr>
          </a:p>
        </p:txBody>
      </p:sp>
      <p:sp>
        <p:nvSpPr>
          <p:cNvPr id="82" name="Shape 16"/>
          <p:cNvSpPr/>
          <p:nvPr/>
        </p:nvSpPr>
        <p:spPr>
          <a:xfrm>
            <a:off x="548640" y="3749040"/>
            <a:ext cx="3520080" cy="1965600"/>
          </a:xfrm>
          <a:prstGeom prst="roundRect">
            <a:avLst>
              <a:gd name="adj" fmla="val 3721"/>
            </a:avLst>
          </a:prstGeom>
          <a:solidFill>
            <a:srgbClr val="EE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 name="Shape 17"/>
          <p:cNvSpPr/>
          <p:nvPr/>
        </p:nvSpPr>
        <p:spPr>
          <a:xfrm>
            <a:off x="804600" y="4005000"/>
            <a:ext cx="456840" cy="456840"/>
          </a:xfrm>
          <a:prstGeom prst="ellipse">
            <a:avLst/>
          </a:prstGeom>
          <a:solidFill>
            <a:srgbClr val="FEA11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4" name="Text 18"/>
          <p:cNvSpPr/>
          <p:nvPr/>
        </p:nvSpPr>
        <p:spPr>
          <a:xfrm>
            <a:off x="804600" y="400500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4</a:t>
            </a:r>
            <a:endParaRPr lang="en-US" sz="1400" b="0" u="none" strike="noStrike">
              <a:solidFill>
                <a:srgbClr val="000000"/>
              </a:solidFill>
              <a:effectLst/>
              <a:uFillTx/>
              <a:latin typeface="Arial"/>
            </a:endParaRPr>
          </a:p>
        </p:txBody>
      </p:sp>
      <p:sp>
        <p:nvSpPr>
          <p:cNvPr id="85" name="Text 19"/>
          <p:cNvSpPr/>
          <p:nvPr/>
        </p:nvSpPr>
        <p:spPr>
          <a:xfrm>
            <a:off x="804600" y="4617720"/>
            <a:ext cx="30081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0F172B"/>
                </a:solidFill>
                <a:effectLst/>
                <a:uFillTx/>
                <a:latin typeface="Calibri"/>
                <a:ea typeface="Calibri"/>
              </a:rPr>
              <a:t>Order Management</a:t>
            </a:r>
            <a:endParaRPr lang="en-US" sz="1450" b="0" u="none" strike="noStrike">
              <a:solidFill>
                <a:srgbClr val="000000"/>
              </a:solidFill>
              <a:effectLst/>
              <a:uFillTx/>
              <a:latin typeface="Arial"/>
            </a:endParaRPr>
          </a:p>
        </p:txBody>
      </p:sp>
      <p:sp>
        <p:nvSpPr>
          <p:cNvPr id="86" name="Text 20"/>
          <p:cNvSpPr/>
          <p:nvPr/>
        </p:nvSpPr>
        <p:spPr>
          <a:xfrm>
            <a:off x="804600" y="5047560"/>
            <a:ext cx="300816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3B4453"/>
                </a:solidFill>
                <a:effectLst/>
                <a:uFillTx/>
                <a:latin typeface="Calibri"/>
                <a:ea typeface="Calibri"/>
              </a:rPr>
              <a:t>Customers view their history; Admins view all orders.</a:t>
            </a:r>
            <a:endParaRPr lang="en-US" sz="1100" b="0" u="none" strike="noStrike">
              <a:solidFill>
                <a:srgbClr val="000000"/>
              </a:solidFill>
              <a:effectLst/>
              <a:uFillTx/>
              <a:latin typeface="Arial"/>
            </a:endParaRPr>
          </a:p>
        </p:txBody>
      </p:sp>
      <p:sp>
        <p:nvSpPr>
          <p:cNvPr id="87" name="Shape 21"/>
          <p:cNvSpPr/>
          <p:nvPr/>
        </p:nvSpPr>
        <p:spPr>
          <a:xfrm>
            <a:off x="4334400" y="3749040"/>
            <a:ext cx="3520080" cy="1965600"/>
          </a:xfrm>
          <a:prstGeom prst="roundRect">
            <a:avLst>
              <a:gd name="adj" fmla="val 3721"/>
            </a:avLst>
          </a:prstGeom>
          <a:solidFill>
            <a:srgbClr val="EE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 name="Shape 22"/>
          <p:cNvSpPr/>
          <p:nvPr/>
        </p:nvSpPr>
        <p:spPr>
          <a:xfrm>
            <a:off x="4590360" y="4005000"/>
            <a:ext cx="456840" cy="456840"/>
          </a:xfrm>
          <a:prstGeom prst="ellipse">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9" name="Text 23"/>
          <p:cNvSpPr/>
          <p:nvPr/>
        </p:nvSpPr>
        <p:spPr>
          <a:xfrm>
            <a:off x="4590360" y="400500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5</a:t>
            </a:r>
            <a:endParaRPr lang="en-US" sz="1400" b="0" u="none" strike="noStrike">
              <a:solidFill>
                <a:srgbClr val="000000"/>
              </a:solidFill>
              <a:effectLst/>
              <a:uFillTx/>
              <a:latin typeface="Arial"/>
            </a:endParaRPr>
          </a:p>
        </p:txBody>
      </p:sp>
      <p:sp>
        <p:nvSpPr>
          <p:cNvPr id="90" name="Text 24"/>
          <p:cNvSpPr/>
          <p:nvPr/>
        </p:nvSpPr>
        <p:spPr>
          <a:xfrm>
            <a:off x="4590360" y="4617720"/>
            <a:ext cx="30081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0F172B"/>
                </a:solidFill>
                <a:effectLst/>
                <a:uFillTx/>
                <a:latin typeface="Calibri"/>
                <a:ea typeface="Calibri"/>
              </a:rPr>
              <a:t>Contact &amp; Support</a:t>
            </a:r>
            <a:endParaRPr lang="en-US" sz="1450" b="0" u="none" strike="noStrike">
              <a:solidFill>
                <a:srgbClr val="000000"/>
              </a:solidFill>
              <a:effectLst/>
              <a:uFillTx/>
              <a:latin typeface="Arial"/>
            </a:endParaRPr>
          </a:p>
        </p:txBody>
      </p:sp>
      <p:sp>
        <p:nvSpPr>
          <p:cNvPr id="91" name="Text 25"/>
          <p:cNvSpPr/>
          <p:nvPr/>
        </p:nvSpPr>
        <p:spPr>
          <a:xfrm>
            <a:off x="4590360" y="5047560"/>
            <a:ext cx="300816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3B4453"/>
                </a:solidFill>
                <a:effectLst/>
                <a:uFillTx/>
                <a:latin typeface="Calibri"/>
                <a:ea typeface="Calibri"/>
              </a:rPr>
              <a:t>Customers message the restaurant; replies trigger a notification.</a:t>
            </a:r>
            <a:endParaRPr lang="en-US" sz="1100" b="0" u="none" strike="noStrike">
              <a:solidFill>
                <a:srgbClr val="000000"/>
              </a:solidFill>
              <a:effectLst/>
              <a:uFillTx/>
              <a:latin typeface="Arial"/>
            </a:endParaRPr>
          </a:p>
        </p:txBody>
      </p:sp>
      <p:sp>
        <p:nvSpPr>
          <p:cNvPr id="92" name="Shape 26"/>
          <p:cNvSpPr/>
          <p:nvPr/>
        </p:nvSpPr>
        <p:spPr>
          <a:xfrm>
            <a:off x="8119800" y="3749040"/>
            <a:ext cx="3520080" cy="1965600"/>
          </a:xfrm>
          <a:prstGeom prst="roundRect">
            <a:avLst>
              <a:gd name="adj" fmla="val 3721"/>
            </a:avLst>
          </a:prstGeom>
          <a:solidFill>
            <a:srgbClr val="EE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3" name="Shape 27"/>
          <p:cNvSpPr/>
          <p:nvPr/>
        </p:nvSpPr>
        <p:spPr>
          <a:xfrm>
            <a:off x="8375760" y="4005000"/>
            <a:ext cx="456840" cy="456840"/>
          </a:xfrm>
          <a:prstGeom prst="ellipse">
            <a:avLst/>
          </a:prstGeom>
          <a:solidFill>
            <a:srgbClr val="FEA11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4" name="Text 28"/>
          <p:cNvSpPr/>
          <p:nvPr/>
        </p:nvSpPr>
        <p:spPr>
          <a:xfrm>
            <a:off x="8375760" y="400500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6</a:t>
            </a:r>
            <a:endParaRPr lang="en-US" sz="1400" b="0" u="none" strike="noStrike">
              <a:solidFill>
                <a:srgbClr val="000000"/>
              </a:solidFill>
              <a:effectLst/>
              <a:uFillTx/>
              <a:latin typeface="Arial"/>
            </a:endParaRPr>
          </a:p>
        </p:txBody>
      </p:sp>
      <p:sp>
        <p:nvSpPr>
          <p:cNvPr id="95" name="Text 29"/>
          <p:cNvSpPr/>
          <p:nvPr/>
        </p:nvSpPr>
        <p:spPr>
          <a:xfrm>
            <a:off x="8375760" y="4617720"/>
            <a:ext cx="30081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1" u="none" strike="noStrike">
                <a:solidFill>
                  <a:srgbClr val="0F172B"/>
                </a:solidFill>
                <a:effectLst/>
                <a:uFillTx/>
                <a:latin typeface="Calibri"/>
                <a:ea typeface="Calibri"/>
              </a:rPr>
              <a:t>Admin Dashboard</a:t>
            </a:r>
            <a:endParaRPr lang="en-US" sz="1450" b="0" u="none" strike="noStrike">
              <a:solidFill>
                <a:srgbClr val="000000"/>
              </a:solidFill>
              <a:effectLst/>
              <a:uFillTx/>
              <a:latin typeface="Arial"/>
            </a:endParaRPr>
          </a:p>
        </p:txBody>
      </p:sp>
      <p:sp>
        <p:nvSpPr>
          <p:cNvPr id="96" name="Text 30"/>
          <p:cNvSpPr/>
          <p:nvPr/>
        </p:nvSpPr>
        <p:spPr>
          <a:xfrm>
            <a:off x="8375760" y="5047560"/>
            <a:ext cx="300816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3B4453"/>
                </a:solidFill>
                <a:effectLst/>
                <a:uFillTx/>
                <a:latin typeface="Calibri"/>
                <a:ea typeface="Calibri"/>
              </a:rPr>
              <a:t>Manage menu items, review orders, and reply to messages.</a:t>
            </a:r>
            <a:endParaRPr lang="en-US" sz="1100" b="0" u="none" strike="noStrike">
              <a:solidFill>
                <a:srgbClr val="000000"/>
              </a:solidFill>
              <a:effectLst/>
              <a:uFillTx/>
              <a:latin typeface="Arial"/>
            </a:endParaRPr>
          </a:p>
        </p:txBody>
      </p:sp>
      <p:sp>
        <p:nvSpPr>
          <p:cNvPr id="97" name="Text 31"/>
          <p:cNvSpPr/>
          <p:nvPr/>
        </p:nvSpPr>
        <p:spPr>
          <a:xfrm>
            <a:off x="548640" y="647388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7AEB8"/>
                </a:solidFill>
                <a:effectLst/>
                <a:uFillTx/>
                <a:latin typeface="Calibri"/>
                <a:ea typeface="Calibri"/>
              </a:rPr>
              <a:t>Restaurant 905</a:t>
            </a:r>
            <a:endParaRPr lang="en-US" sz="900" b="0" u="none" strike="noStrike">
              <a:solidFill>
                <a:srgbClr val="000000"/>
              </a:solidFill>
              <a:effectLst/>
              <a:uFillTx/>
              <a:latin typeface="Arial"/>
            </a:endParaRPr>
          </a:p>
        </p:txBody>
      </p:sp>
      <p:sp>
        <p:nvSpPr>
          <p:cNvPr id="98" name="Text 32"/>
          <p:cNvSpPr/>
          <p:nvPr/>
        </p:nvSpPr>
        <p:spPr>
          <a:xfrm>
            <a:off x="11091600" y="6473880"/>
            <a:ext cx="5482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A7AEB8"/>
                </a:solidFill>
                <a:effectLst/>
                <a:uFillTx/>
                <a:latin typeface="Calibri"/>
                <a:ea typeface="Calibri"/>
              </a:rPr>
              <a:t>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Text 0"/>
          <p:cNvSpPr/>
          <p:nvPr/>
        </p:nvSpPr>
        <p:spPr>
          <a:xfrm>
            <a:off x="548640" y="41148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F172B"/>
                </a:solidFill>
                <a:effectLst/>
                <a:uFillTx/>
                <a:latin typeface="Cambria"/>
                <a:ea typeface="Cambria"/>
              </a:rPr>
              <a:t>Authentication &amp; Security Flow</a:t>
            </a:r>
            <a:endParaRPr lang="en-US" sz="3000" b="0" u="none" strike="noStrike">
              <a:solidFill>
                <a:srgbClr val="000000"/>
              </a:solidFill>
              <a:effectLst/>
              <a:uFillTx/>
              <a:latin typeface="Arial"/>
            </a:endParaRPr>
          </a:p>
        </p:txBody>
      </p:sp>
      <p:sp>
        <p:nvSpPr>
          <p:cNvPr id="100" name="Shape 1"/>
          <p:cNvSpPr/>
          <p:nvPr/>
        </p:nvSpPr>
        <p:spPr>
          <a:xfrm>
            <a:off x="548640" y="1600200"/>
            <a:ext cx="383760" cy="383760"/>
          </a:xfrm>
          <a:prstGeom prst="ellipse">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1" name="Text 2"/>
          <p:cNvSpPr/>
          <p:nvPr/>
        </p:nvSpPr>
        <p:spPr>
          <a:xfrm>
            <a:off x="548640" y="160020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1</a:t>
            </a:r>
            <a:endParaRPr lang="en-US" sz="1400" b="0" u="none" strike="noStrike">
              <a:solidFill>
                <a:srgbClr val="000000"/>
              </a:solidFill>
              <a:effectLst/>
              <a:uFillTx/>
              <a:latin typeface="Arial"/>
            </a:endParaRPr>
          </a:p>
        </p:txBody>
      </p:sp>
      <p:sp>
        <p:nvSpPr>
          <p:cNvPr id="102" name="Text 3"/>
          <p:cNvSpPr/>
          <p:nvPr/>
        </p:nvSpPr>
        <p:spPr>
          <a:xfrm>
            <a:off x="1207080" y="1527120"/>
            <a:ext cx="67662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3B4453"/>
                </a:solidFill>
                <a:effectLst/>
                <a:uFillTx/>
                <a:latin typeface="Calibri"/>
                <a:ea typeface="Calibri"/>
              </a:rPr>
              <a:t>User submits the sign-up / login form (Angular)</a:t>
            </a:r>
            <a:endParaRPr lang="en-US" sz="1350" b="0" u="none" strike="noStrike">
              <a:solidFill>
                <a:srgbClr val="000000"/>
              </a:solidFill>
              <a:effectLst/>
              <a:uFillTx/>
              <a:latin typeface="Arial"/>
            </a:endParaRPr>
          </a:p>
        </p:txBody>
      </p:sp>
      <p:sp>
        <p:nvSpPr>
          <p:cNvPr id="103" name="Shape 4"/>
          <p:cNvSpPr/>
          <p:nvPr/>
        </p:nvSpPr>
        <p:spPr>
          <a:xfrm>
            <a:off x="548640" y="2377440"/>
            <a:ext cx="383760" cy="383760"/>
          </a:xfrm>
          <a:prstGeom prst="ellipse">
            <a:avLst/>
          </a:prstGeom>
          <a:solidFill>
            <a:srgbClr val="FEA11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4" name="Text 5"/>
          <p:cNvSpPr/>
          <p:nvPr/>
        </p:nvSpPr>
        <p:spPr>
          <a:xfrm>
            <a:off x="548640" y="237744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2</a:t>
            </a:r>
            <a:endParaRPr lang="en-US" sz="1400" b="0" u="none" strike="noStrike">
              <a:solidFill>
                <a:srgbClr val="000000"/>
              </a:solidFill>
              <a:effectLst/>
              <a:uFillTx/>
              <a:latin typeface="Arial"/>
            </a:endParaRPr>
          </a:p>
        </p:txBody>
      </p:sp>
      <p:sp>
        <p:nvSpPr>
          <p:cNvPr id="105" name="Text 6"/>
          <p:cNvSpPr/>
          <p:nvPr/>
        </p:nvSpPr>
        <p:spPr>
          <a:xfrm>
            <a:off x="1207080" y="2304360"/>
            <a:ext cx="67662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3B4453"/>
                </a:solidFill>
                <a:effectLst/>
                <a:uFillTx/>
                <a:latin typeface="Calibri"/>
                <a:ea typeface="Calibri"/>
              </a:rPr>
              <a:t>AuthController → AuthService verifies credentials (BCrypt password check)</a:t>
            </a:r>
            <a:endParaRPr lang="en-US" sz="1350" b="0" u="none" strike="noStrike">
              <a:solidFill>
                <a:srgbClr val="000000"/>
              </a:solidFill>
              <a:effectLst/>
              <a:uFillTx/>
              <a:latin typeface="Arial"/>
            </a:endParaRPr>
          </a:p>
        </p:txBody>
      </p:sp>
      <p:sp>
        <p:nvSpPr>
          <p:cNvPr id="106" name="Shape 7"/>
          <p:cNvSpPr/>
          <p:nvPr/>
        </p:nvSpPr>
        <p:spPr>
          <a:xfrm>
            <a:off x="548640" y="3154680"/>
            <a:ext cx="383760" cy="383760"/>
          </a:xfrm>
          <a:prstGeom prst="ellipse">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7" name="Text 8"/>
          <p:cNvSpPr/>
          <p:nvPr/>
        </p:nvSpPr>
        <p:spPr>
          <a:xfrm>
            <a:off x="548640" y="315468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3</a:t>
            </a:r>
            <a:endParaRPr lang="en-US" sz="1400" b="0" u="none" strike="noStrike">
              <a:solidFill>
                <a:srgbClr val="000000"/>
              </a:solidFill>
              <a:effectLst/>
              <a:uFillTx/>
              <a:latin typeface="Arial"/>
            </a:endParaRPr>
          </a:p>
        </p:txBody>
      </p:sp>
      <p:sp>
        <p:nvSpPr>
          <p:cNvPr id="108" name="Text 9"/>
          <p:cNvSpPr/>
          <p:nvPr/>
        </p:nvSpPr>
        <p:spPr>
          <a:xfrm>
            <a:off x="1207080" y="3081600"/>
            <a:ext cx="67662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3B4453"/>
                </a:solidFill>
                <a:effectLst/>
                <a:uFillTx/>
                <a:latin typeface="Calibri"/>
                <a:ea typeface="Calibri"/>
              </a:rPr>
              <a:t>TokenHandler generates a signed JWT (username + expiry)</a:t>
            </a:r>
            <a:endParaRPr lang="en-US" sz="1350" b="0" u="none" strike="noStrike">
              <a:solidFill>
                <a:srgbClr val="000000"/>
              </a:solidFill>
              <a:effectLst/>
              <a:uFillTx/>
              <a:latin typeface="Arial"/>
            </a:endParaRPr>
          </a:p>
        </p:txBody>
      </p:sp>
      <p:sp>
        <p:nvSpPr>
          <p:cNvPr id="109" name="Shape 10"/>
          <p:cNvSpPr/>
          <p:nvPr/>
        </p:nvSpPr>
        <p:spPr>
          <a:xfrm>
            <a:off x="548640" y="3931920"/>
            <a:ext cx="383760" cy="383760"/>
          </a:xfrm>
          <a:prstGeom prst="ellipse">
            <a:avLst/>
          </a:prstGeom>
          <a:solidFill>
            <a:srgbClr val="FEA11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0" name="Text 11"/>
          <p:cNvSpPr/>
          <p:nvPr/>
        </p:nvSpPr>
        <p:spPr>
          <a:xfrm>
            <a:off x="548640" y="393192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4</a:t>
            </a:r>
            <a:endParaRPr lang="en-US" sz="1400" b="0" u="none" strike="noStrike">
              <a:solidFill>
                <a:srgbClr val="000000"/>
              </a:solidFill>
              <a:effectLst/>
              <a:uFillTx/>
              <a:latin typeface="Arial"/>
            </a:endParaRPr>
          </a:p>
        </p:txBody>
      </p:sp>
      <p:sp>
        <p:nvSpPr>
          <p:cNvPr id="111" name="Text 12"/>
          <p:cNvSpPr/>
          <p:nvPr/>
        </p:nvSpPr>
        <p:spPr>
          <a:xfrm>
            <a:off x="1207080" y="3858840"/>
            <a:ext cx="67662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3B4453"/>
                </a:solidFill>
                <a:effectLst/>
                <a:uFillTx/>
                <a:latin typeface="Calibri"/>
                <a:ea typeface="Calibri"/>
              </a:rPr>
              <a:t>Token &amp; roles are returned and stored in the browser's sessionStorage</a:t>
            </a:r>
            <a:endParaRPr lang="en-US" sz="1350" b="0" u="none" strike="noStrike">
              <a:solidFill>
                <a:srgbClr val="000000"/>
              </a:solidFill>
              <a:effectLst/>
              <a:uFillTx/>
              <a:latin typeface="Arial"/>
            </a:endParaRPr>
          </a:p>
        </p:txBody>
      </p:sp>
      <p:sp>
        <p:nvSpPr>
          <p:cNvPr id="112" name="Shape 13"/>
          <p:cNvSpPr/>
          <p:nvPr/>
        </p:nvSpPr>
        <p:spPr>
          <a:xfrm>
            <a:off x="548640" y="4709160"/>
            <a:ext cx="383760" cy="383760"/>
          </a:xfrm>
          <a:prstGeom prst="ellipse">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3" name="Text 14"/>
          <p:cNvSpPr/>
          <p:nvPr/>
        </p:nvSpPr>
        <p:spPr>
          <a:xfrm>
            <a:off x="548640" y="470916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5</a:t>
            </a:r>
            <a:endParaRPr lang="en-US" sz="1400" b="0" u="none" strike="noStrike">
              <a:solidFill>
                <a:srgbClr val="000000"/>
              </a:solidFill>
              <a:effectLst/>
              <a:uFillTx/>
              <a:latin typeface="Arial"/>
            </a:endParaRPr>
          </a:p>
        </p:txBody>
      </p:sp>
      <p:sp>
        <p:nvSpPr>
          <p:cNvPr id="114" name="Text 15"/>
          <p:cNvSpPr/>
          <p:nvPr/>
        </p:nvSpPr>
        <p:spPr>
          <a:xfrm>
            <a:off x="1207080" y="4636080"/>
            <a:ext cx="67662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3B4453"/>
                </a:solidFill>
                <a:effectLst/>
                <a:uFillTx/>
                <a:latin typeface="Calibri"/>
                <a:ea typeface="Calibri"/>
              </a:rPr>
              <a:t>AuthInterceptor attaches “Authorization: Bearer &lt;token&gt;” to every request</a:t>
            </a:r>
            <a:endParaRPr lang="en-US" sz="1350" b="0" u="none" strike="noStrike">
              <a:solidFill>
                <a:srgbClr val="000000"/>
              </a:solidFill>
              <a:effectLst/>
              <a:uFillTx/>
              <a:latin typeface="Arial"/>
            </a:endParaRPr>
          </a:p>
        </p:txBody>
      </p:sp>
      <p:sp>
        <p:nvSpPr>
          <p:cNvPr id="115" name="Shape 16"/>
          <p:cNvSpPr/>
          <p:nvPr/>
        </p:nvSpPr>
        <p:spPr>
          <a:xfrm>
            <a:off x="548640" y="5486400"/>
            <a:ext cx="383760" cy="383760"/>
          </a:xfrm>
          <a:prstGeom prst="ellipse">
            <a:avLst/>
          </a:prstGeom>
          <a:solidFill>
            <a:srgbClr val="FEA11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6" name="Text 17"/>
          <p:cNvSpPr/>
          <p:nvPr/>
        </p:nvSpPr>
        <p:spPr>
          <a:xfrm>
            <a:off x="548640" y="548640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6</a:t>
            </a:r>
            <a:endParaRPr lang="en-US" sz="1400" b="0" u="none" strike="noStrike">
              <a:solidFill>
                <a:srgbClr val="000000"/>
              </a:solidFill>
              <a:effectLst/>
              <a:uFillTx/>
              <a:latin typeface="Arial"/>
            </a:endParaRPr>
          </a:p>
        </p:txBody>
      </p:sp>
      <p:sp>
        <p:nvSpPr>
          <p:cNvPr id="117" name="Text 18"/>
          <p:cNvSpPr/>
          <p:nvPr/>
        </p:nvSpPr>
        <p:spPr>
          <a:xfrm>
            <a:off x="1207080" y="5413320"/>
            <a:ext cx="67662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3B4453"/>
                </a:solidFill>
                <a:effectLst/>
                <a:uFillTx/>
                <a:latin typeface="Calibri"/>
                <a:ea typeface="Calibri"/>
              </a:rPr>
              <a:t>Backend AuthFilter validates the token and sets the Security Context</a:t>
            </a:r>
            <a:endParaRPr lang="en-US" sz="1350" b="0" u="none" strike="noStrike">
              <a:solidFill>
                <a:srgbClr val="000000"/>
              </a:solidFill>
              <a:effectLst/>
              <a:uFillTx/>
              <a:latin typeface="Arial"/>
            </a:endParaRPr>
          </a:p>
        </p:txBody>
      </p:sp>
      <p:sp>
        <p:nvSpPr>
          <p:cNvPr id="118" name="Shape 19"/>
          <p:cNvSpPr/>
          <p:nvPr/>
        </p:nvSpPr>
        <p:spPr>
          <a:xfrm>
            <a:off x="7955280" y="1600200"/>
            <a:ext cx="3684600" cy="4480200"/>
          </a:xfrm>
          <a:prstGeom prst="roundRect">
            <a:avLst>
              <a:gd name="adj" fmla="val 1985"/>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9" name="Text 20"/>
          <p:cNvSpPr/>
          <p:nvPr/>
        </p:nvSpPr>
        <p:spPr>
          <a:xfrm>
            <a:off x="8229600" y="1874520"/>
            <a:ext cx="31359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EA116"/>
                </a:solidFill>
                <a:effectLst/>
                <a:uFillTx/>
                <a:latin typeface="Cambria"/>
                <a:ea typeface="Cambria"/>
              </a:rPr>
              <a:t>Publicly Accessible</a:t>
            </a:r>
            <a:endParaRPr lang="en-US" sz="1600" b="0" u="none" strike="noStrike">
              <a:solidFill>
                <a:srgbClr val="000000"/>
              </a:solidFill>
              <a:effectLst/>
              <a:uFillTx/>
              <a:latin typeface="Arial"/>
            </a:endParaRPr>
          </a:p>
        </p:txBody>
      </p:sp>
      <p:sp>
        <p:nvSpPr>
          <p:cNvPr id="120" name="Text 21"/>
          <p:cNvSpPr/>
          <p:nvPr/>
        </p:nvSpPr>
        <p:spPr>
          <a:xfrm>
            <a:off x="8229600" y="2468880"/>
            <a:ext cx="3135960" cy="173700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199"/>
              </a:spcAft>
              <a:buClr>
                <a:srgbClr val="FFFFFF"/>
              </a:buClr>
              <a:buFont typeface="Symbol" charset="2"/>
              <a:buChar char=""/>
            </a:pPr>
            <a:r>
              <a:rPr lang="en-US" sz="1250" b="0" u="none" strike="noStrike">
                <a:solidFill>
                  <a:srgbClr val="FFFFFF"/>
                </a:solidFill>
                <a:effectLst/>
                <a:uFillTx/>
                <a:latin typeface="Courier New"/>
                <a:ea typeface="Courier New"/>
              </a:rPr>
              <a:t>/auth/**</a:t>
            </a:r>
            <a:endParaRPr lang="en-US" sz="1250" b="0" u="none" strike="noStrike">
              <a:solidFill>
                <a:srgbClr val="000000"/>
              </a:solidFill>
              <a:effectLst/>
              <a:uFillTx/>
              <a:latin typeface="Arial"/>
            </a:endParaRPr>
          </a:p>
          <a:p>
            <a:pPr marL="343080" indent="-343080" defTabSz="914400">
              <a:lnSpc>
                <a:spcPct val="100000"/>
              </a:lnSpc>
              <a:spcAft>
                <a:spcPts val="1199"/>
              </a:spcAft>
              <a:buClr>
                <a:srgbClr val="FFFFFF"/>
              </a:buClr>
              <a:buFont typeface="Symbol" charset="2"/>
              <a:buChar char=""/>
            </a:pPr>
            <a:r>
              <a:rPr lang="en-US" sz="1250" b="0" u="none" strike="noStrike">
                <a:solidFill>
                  <a:srgbClr val="FFFFFF"/>
                </a:solidFill>
                <a:effectLst/>
                <a:uFillTx/>
                <a:latin typeface="Courier New"/>
                <a:ea typeface="Courier New"/>
              </a:rPr>
              <a:t>/products/**</a:t>
            </a:r>
            <a:endParaRPr lang="en-US" sz="1250" b="0" u="none" strike="noStrike">
              <a:solidFill>
                <a:srgbClr val="000000"/>
              </a:solidFill>
              <a:effectLst/>
              <a:uFillTx/>
              <a:latin typeface="Arial"/>
            </a:endParaRPr>
          </a:p>
          <a:p>
            <a:pPr marL="343080" indent="-343080" defTabSz="914400">
              <a:lnSpc>
                <a:spcPct val="100000"/>
              </a:lnSpc>
              <a:spcAft>
                <a:spcPts val="1199"/>
              </a:spcAft>
              <a:buClr>
                <a:srgbClr val="FFFFFF"/>
              </a:buClr>
              <a:buFont typeface="Symbol" charset="2"/>
              <a:buChar char=""/>
            </a:pPr>
            <a:r>
              <a:rPr lang="en-US" sz="1250" b="0" u="none" strike="noStrike">
                <a:solidFill>
                  <a:srgbClr val="FFFFFF"/>
                </a:solidFill>
                <a:effectLst/>
                <a:uFillTx/>
                <a:latin typeface="Courier New"/>
                <a:ea typeface="Courier New"/>
              </a:rPr>
              <a:t>/categories/**</a:t>
            </a:r>
            <a:endParaRPr lang="en-US" sz="1250" b="0" u="none" strike="noStrike">
              <a:solidFill>
                <a:srgbClr val="000000"/>
              </a:solidFill>
              <a:effectLst/>
              <a:uFillTx/>
              <a:latin typeface="Arial"/>
            </a:endParaRPr>
          </a:p>
          <a:p>
            <a:pPr marL="343080" indent="-343080" defTabSz="914400">
              <a:lnSpc>
                <a:spcPct val="100000"/>
              </a:lnSpc>
              <a:spcAft>
                <a:spcPts val="1199"/>
              </a:spcAft>
              <a:buClr>
                <a:srgbClr val="FFFFFF"/>
              </a:buClr>
              <a:buFont typeface="Symbol" charset="2"/>
              <a:buChar char=""/>
            </a:pPr>
            <a:r>
              <a:rPr lang="en-US" sz="1250" b="0" u="none" strike="noStrike">
                <a:solidFill>
                  <a:srgbClr val="FFFFFF"/>
                </a:solidFill>
                <a:effectLst/>
                <a:uFillTx/>
                <a:latin typeface="Courier New"/>
                <a:ea typeface="Courier New"/>
              </a:rPr>
              <a:t>/swagger-ui/**</a:t>
            </a:r>
            <a:endParaRPr lang="en-US" sz="1250" b="0" u="none" strike="noStrike">
              <a:solidFill>
                <a:srgbClr val="000000"/>
              </a:solidFill>
              <a:effectLst/>
              <a:uFillTx/>
              <a:latin typeface="Arial"/>
            </a:endParaRPr>
          </a:p>
          <a:p>
            <a:pPr marL="343080" indent="-343080" defTabSz="914400">
              <a:lnSpc>
                <a:spcPct val="100000"/>
              </a:lnSpc>
              <a:spcAft>
                <a:spcPts val="1199"/>
              </a:spcAft>
              <a:buClr>
                <a:srgbClr val="FFFFFF"/>
              </a:buClr>
              <a:buFont typeface="Symbol" charset="2"/>
              <a:buChar char=""/>
            </a:pPr>
            <a:r>
              <a:rPr lang="en-US" sz="1250" b="0" u="none" strike="noStrike">
                <a:solidFill>
                  <a:srgbClr val="FFFFFF"/>
                </a:solidFill>
                <a:effectLst/>
                <a:uFillTx/>
                <a:latin typeface="Courier New"/>
                <a:ea typeface="Courier New"/>
              </a:rPr>
              <a:t>/v3/**</a:t>
            </a:r>
            <a:endParaRPr lang="en-US" sz="1250" b="0" u="none" strike="noStrike">
              <a:solidFill>
                <a:srgbClr val="000000"/>
              </a:solidFill>
              <a:effectLst/>
              <a:uFillTx/>
              <a:latin typeface="Arial"/>
            </a:endParaRPr>
          </a:p>
        </p:txBody>
      </p:sp>
      <p:sp>
        <p:nvSpPr>
          <p:cNvPr id="121" name="Text 22"/>
          <p:cNvSpPr/>
          <p:nvPr/>
        </p:nvSpPr>
        <p:spPr>
          <a:xfrm>
            <a:off x="8229600" y="5029200"/>
            <a:ext cx="313596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i="1" u="none" strike="noStrike">
                <a:solidFill>
                  <a:srgbClr val="C7CEDA"/>
                </a:solidFill>
                <a:effectLst/>
                <a:uFillTx/>
                <a:latin typeface="Calibri"/>
                <a:ea typeface="Calibri"/>
              </a:rPr>
              <a:t>Everything else requires a valid Bearer token in the Authorization header.</a:t>
            </a:r>
            <a:endParaRPr lang="en-US" sz="1150" b="0" u="none" strike="noStrike">
              <a:solidFill>
                <a:srgbClr val="000000"/>
              </a:solidFill>
              <a:effectLst/>
              <a:uFillTx/>
              <a:latin typeface="Arial"/>
            </a:endParaRPr>
          </a:p>
        </p:txBody>
      </p:sp>
      <p:sp>
        <p:nvSpPr>
          <p:cNvPr id="122" name="Text 23"/>
          <p:cNvSpPr/>
          <p:nvPr/>
        </p:nvSpPr>
        <p:spPr>
          <a:xfrm>
            <a:off x="548640" y="647388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7AEB8"/>
                </a:solidFill>
                <a:effectLst/>
                <a:uFillTx/>
                <a:latin typeface="Calibri"/>
                <a:ea typeface="Calibri"/>
              </a:rPr>
              <a:t>Restaurant 905</a:t>
            </a:r>
            <a:endParaRPr lang="en-US" sz="900" b="0" u="none" strike="noStrike">
              <a:solidFill>
                <a:srgbClr val="000000"/>
              </a:solidFill>
              <a:effectLst/>
              <a:uFillTx/>
              <a:latin typeface="Arial"/>
            </a:endParaRPr>
          </a:p>
        </p:txBody>
      </p:sp>
      <p:sp>
        <p:nvSpPr>
          <p:cNvPr id="123" name="Text 24"/>
          <p:cNvSpPr/>
          <p:nvPr/>
        </p:nvSpPr>
        <p:spPr>
          <a:xfrm>
            <a:off x="11091600" y="6473880"/>
            <a:ext cx="5482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A7AEB8"/>
                </a:solidFill>
                <a:effectLst/>
                <a:uFillTx/>
                <a:latin typeface="Calibri"/>
                <a:ea typeface="Calibri"/>
              </a:rPr>
              <a:t>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4" name="Text 0"/>
          <p:cNvSpPr/>
          <p:nvPr/>
        </p:nvSpPr>
        <p:spPr>
          <a:xfrm>
            <a:off x="548640" y="41148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F172B"/>
                </a:solidFill>
                <a:effectLst/>
                <a:uFillTx/>
                <a:latin typeface="Cambria"/>
                <a:ea typeface="Cambria"/>
              </a:rPr>
              <a:t>Checkout &amp; Order Flow</a:t>
            </a:r>
            <a:endParaRPr lang="en-US" sz="3000" b="0" u="none" strike="noStrike">
              <a:solidFill>
                <a:srgbClr val="000000"/>
              </a:solidFill>
              <a:effectLst/>
              <a:uFillTx/>
              <a:latin typeface="Arial"/>
            </a:endParaRPr>
          </a:p>
        </p:txBody>
      </p:sp>
      <p:sp>
        <p:nvSpPr>
          <p:cNvPr id="125" name="Shape 1"/>
          <p:cNvSpPr/>
          <p:nvPr/>
        </p:nvSpPr>
        <p:spPr>
          <a:xfrm>
            <a:off x="548640" y="1600200"/>
            <a:ext cx="383760" cy="383760"/>
          </a:xfrm>
          <a:prstGeom prst="ellipse">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6" name="Text 2"/>
          <p:cNvSpPr/>
          <p:nvPr/>
        </p:nvSpPr>
        <p:spPr>
          <a:xfrm>
            <a:off x="548640" y="160020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1</a:t>
            </a:r>
            <a:endParaRPr lang="en-US" sz="1400" b="0" u="none" strike="noStrike">
              <a:solidFill>
                <a:srgbClr val="000000"/>
              </a:solidFill>
              <a:effectLst/>
              <a:uFillTx/>
              <a:latin typeface="Arial"/>
            </a:endParaRPr>
          </a:p>
        </p:txBody>
      </p:sp>
      <p:sp>
        <p:nvSpPr>
          <p:cNvPr id="127" name="Text 3"/>
          <p:cNvSpPr/>
          <p:nvPr/>
        </p:nvSpPr>
        <p:spPr>
          <a:xfrm>
            <a:off x="1207080" y="1508760"/>
            <a:ext cx="64918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3B4453"/>
                </a:solidFill>
                <a:effectLst/>
                <a:uFillTx/>
                <a:latin typeface="Calibri"/>
                <a:ea typeface="Calibri"/>
              </a:rPr>
              <a:t>Customer adds products to the Cart (client-side, CartService)</a:t>
            </a:r>
            <a:endParaRPr lang="en-US" sz="1300" b="0" u="none" strike="noStrike">
              <a:solidFill>
                <a:srgbClr val="000000"/>
              </a:solidFill>
              <a:effectLst/>
              <a:uFillTx/>
              <a:latin typeface="Arial"/>
            </a:endParaRPr>
          </a:p>
        </p:txBody>
      </p:sp>
      <p:sp>
        <p:nvSpPr>
          <p:cNvPr id="128" name="Shape 4"/>
          <p:cNvSpPr/>
          <p:nvPr/>
        </p:nvSpPr>
        <p:spPr>
          <a:xfrm>
            <a:off x="548640" y="2468880"/>
            <a:ext cx="383760" cy="383760"/>
          </a:xfrm>
          <a:prstGeom prst="ellipse">
            <a:avLst/>
          </a:prstGeom>
          <a:solidFill>
            <a:srgbClr val="FEA11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9" name="Text 5"/>
          <p:cNvSpPr/>
          <p:nvPr/>
        </p:nvSpPr>
        <p:spPr>
          <a:xfrm>
            <a:off x="548640" y="246888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2</a:t>
            </a:r>
            <a:endParaRPr lang="en-US" sz="1400" b="0" u="none" strike="noStrike">
              <a:solidFill>
                <a:srgbClr val="000000"/>
              </a:solidFill>
              <a:effectLst/>
              <a:uFillTx/>
              <a:latin typeface="Arial"/>
            </a:endParaRPr>
          </a:p>
        </p:txBody>
      </p:sp>
      <p:sp>
        <p:nvSpPr>
          <p:cNvPr id="130" name="Text 6"/>
          <p:cNvSpPr/>
          <p:nvPr/>
        </p:nvSpPr>
        <p:spPr>
          <a:xfrm>
            <a:off x="1207080" y="2377440"/>
            <a:ext cx="64918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3B4453"/>
                </a:solidFill>
                <a:effectLst/>
                <a:uFillTx/>
                <a:latin typeface="Calibri"/>
                <a:ea typeface="Calibri"/>
              </a:rPr>
              <a:t>Clicks “Take Order” → POST /orders/create-orders</a:t>
            </a:r>
            <a:endParaRPr lang="en-US" sz="1300" b="0" u="none" strike="noStrike">
              <a:solidFill>
                <a:srgbClr val="000000"/>
              </a:solidFill>
              <a:effectLst/>
              <a:uFillTx/>
              <a:latin typeface="Arial"/>
            </a:endParaRPr>
          </a:p>
        </p:txBody>
      </p:sp>
      <p:sp>
        <p:nvSpPr>
          <p:cNvPr id="131" name="Shape 7"/>
          <p:cNvSpPr/>
          <p:nvPr/>
        </p:nvSpPr>
        <p:spPr>
          <a:xfrm>
            <a:off x="548640" y="3337560"/>
            <a:ext cx="383760" cy="383760"/>
          </a:xfrm>
          <a:prstGeom prst="ellipse">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2" name="Text 8"/>
          <p:cNvSpPr/>
          <p:nvPr/>
        </p:nvSpPr>
        <p:spPr>
          <a:xfrm>
            <a:off x="548640" y="333756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3</a:t>
            </a:r>
            <a:endParaRPr lang="en-US" sz="1400" b="0" u="none" strike="noStrike">
              <a:solidFill>
                <a:srgbClr val="000000"/>
              </a:solidFill>
              <a:effectLst/>
              <a:uFillTx/>
              <a:latin typeface="Arial"/>
            </a:endParaRPr>
          </a:p>
        </p:txBody>
      </p:sp>
      <p:sp>
        <p:nvSpPr>
          <p:cNvPr id="133" name="Text 9"/>
          <p:cNvSpPr/>
          <p:nvPr/>
        </p:nvSpPr>
        <p:spPr>
          <a:xfrm>
            <a:off x="1207080" y="3246120"/>
            <a:ext cx="64918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3B4453"/>
                </a:solidFill>
                <a:effectLst/>
                <a:uFillTx/>
                <a:latin typeface="Calibri"/>
                <a:ea typeface="Calibri"/>
              </a:rPr>
              <a:t>Backend checks whether the account's profile is complete</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3B4453"/>
                </a:solidFill>
                <a:effectLst/>
                <a:uFillTx/>
                <a:latin typeface="Calibri"/>
                <a:ea typeface="Calibri"/>
              </a:rPr>
              <a:t>(phone, address, age)</a:t>
            </a:r>
            <a:endParaRPr lang="en-US" sz="1300" b="0" u="none" strike="noStrike">
              <a:solidFill>
                <a:srgbClr val="000000"/>
              </a:solidFill>
              <a:effectLst/>
              <a:uFillTx/>
              <a:latin typeface="Arial"/>
            </a:endParaRPr>
          </a:p>
        </p:txBody>
      </p:sp>
      <p:sp>
        <p:nvSpPr>
          <p:cNvPr id="134" name="Shape 10"/>
          <p:cNvSpPr/>
          <p:nvPr/>
        </p:nvSpPr>
        <p:spPr>
          <a:xfrm>
            <a:off x="548640" y="4206240"/>
            <a:ext cx="383760" cy="383760"/>
          </a:xfrm>
          <a:prstGeom prst="ellipse">
            <a:avLst/>
          </a:prstGeom>
          <a:solidFill>
            <a:srgbClr val="FEA11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5" name="Text 11"/>
          <p:cNvSpPr/>
          <p:nvPr/>
        </p:nvSpPr>
        <p:spPr>
          <a:xfrm>
            <a:off x="548640" y="420624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4</a:t>
            </a:r>
            <a:endParaRPr lang="en-US" sz="1400" b="0" u="none" strike="noStrike">
              <a:solidFill>
                <a:srgbClr val="000000"/>
              </a:solidFill>
              <a:effectLst/>
              <a:uFillTx/>
              <a:latin typeface="Arial"/>
            </a:endParaRPr>
          </a:p>
        </p:txBody>
      </p:sp>
      <p:sp>
        <p:nvSpPr>
          <p:cNvPr id="136" name="Text 12"/>
          <p:cNvSpPr/>
          <p:nvPr/>
        </p:nvSpPr>
        <p:spPr>
          <a:xfrm>
            <a:off x="1207080" y="4114800"/>
            <a:ext cx="64918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3B4453"/>
                </a:solidFill>
                <a:effectLst/>
                <a:uFillTx/>
                <a:latin typeface="Calibri"/>
                <a:ea typeface="Calibri"/>
              </a:rPr>
              <a:t>Order is saved, then updated with a generated code: “RES-{orderId}”</a:t>
            </a:r>
            <a:endParaRPr lang="en-US" sz="1300" b="0" u="none" strike="noStrike">
              <a:solidFill>
                <a:srgbClr val="000000"/>
              </a:solidFill>
              <a:effectLst/>
              <a:uFillTx/>
              <a:latin typeface="Arial"/>
            </a:endParaRPr>
          </a:p>
        </p:txBody>
      </p:sp>
      <p:sp>
        <p:nvSpPr>
          <p:cNvPr id="137" name="Shape 13"/>
          <p:cNvSpPr/>
          <p:nvPr/>
        </p:nvSpPr>
        <p:spPr>
          <a:xfrm>
            <a:off x="548640" y="5074920"/>
            <a:ext cx="383760" cy="383760"/>
          </a:xfrm>
          <a:prstGeom prst="ellipse">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8" name="Text 14"/>
          <p:cNvSpPr/>
          <p:nvPr/>
        </p:nvSpPr>
        <p:spPr>
          <a:xfrm>
            <a:off x="548640" y="507492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5</a:t>
            </a:r>
            <a:endParaRPr lang="en-US" sz="1400" b="0" u="none" strike="noStrike">
              <a:solidFill>
                <a:srgbClr val="000000"/>
              </a:solidFill>
              <a:effectLst/>
              <a:uFillTx/>
              <a:latin typeface="Arial"/>
            </a:endParaRPr>
          </a:p>
        </p:txBody>
      </p:sp>
      <p:sp>
        <p:nvSpPr>
          <p:cNvPr id="139" name="Text 15"/>
          <p:cNvSpPr/>
          <p:nvPr/>
        </p:nvSpPr>
        <p:spPr>
          <a:xfrm>
            <a:off x="1207080" y="4983480"/>
            <a:ext cx="64918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3B4453"/>
                </a:solidFill>
                <a:effectLst/>
                <a:uFillTx/>
                <a:latin typeface="Calibri"/>
                <a:ea typeface="Calibri"/>
              </a:rPr>
              <a:t>Response returns the order code, total price &amp; quantity → Order Summary page</a:t>
            </a:r>
            <a:endParaRPr lang="en-US" sz="1300" b="0" u="none" strike="noStrike">
              <a:solidFill>
                <a:srgbClr val="000000"/>
              </a:solidFill>
              <a:effectLst/>
              <a:uFillTx/>
              <a:latin typeface="Arial"/>
            </a:endParaRPr>
          </a:p>
        </p:txBody>
      </p:sp>
      <p:sp>
        <p:nvSpPr>
          <p:cNvPr id="140" name="Shape 16"/>
          <p:cNvSpPr/>
          <p:nvPr/>
        </p:nvSpPr>
        <p:spPr>
          <a:xfrm>
            <a:off x="7863840" y="3200400"/>
            <a:ext cx="3776040" cy="868320"/>
          </a:xfrm>
          <a:prstGeom prst="roundRect">
            <a:avLst>
              <a:gd name="adj" fmla="val 7368"/>
            </a:avLst>
          </a:prstGeom>
          <a:solidFill>
            <a:srgbClr val="FBE3E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1" name="Text 17"/>
          <p:cNvSpPr/>
          <p:nvPr/>
        </p:nvSpPr>
        <p:spPr>
          <a:xfrm>
            <a:off x="8046720" y="3291840"/>
            <a:ext cx="34102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B02A2A"/>
                </a:solidFill>
                <a:effectLst/>
                <a:uFillTx/>
                <a:latin typeface="Calibri"/>
                <a:ea typeface="Calibri"/>
              </a:rPr>
              <a:t>Incomplete profile</a:t>
            </a:r>
            <a:endParaRPr lang="en-US" sz="1150" b="0" u="none" strike="noStrike">
              <a:solidFill>
                <a:srgbClr val="000000"/>
              </a:solidFill>
              <a:effectLst/>
              <a:uFillTx/>
              <a:latin typeface="Arial"/>
            </a:endParaRPr>
          </a:p>
        </p:txBody>
      </p:sp>
      <p:sp>
        <p:nvSpPr>
          <p:cNvPr id="142" name="Text 18"/>
          <p:cNvSpPr/>
          <p:nvPr/>
        </p:nvSpPr>
        <p:spPr>
          <a:xfrm>
            <a:off x="8046720" y="3584520"/>
            <a:ext cx="34102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7A2323"/>
                </a:solidFill>
                <a:effectLst/>
                <a:uFillTx/>
                <a:latin typeface="Calibri"/>
                <a:ea typeface="Calibri"/>
              </a:rPr>
              <a:t>→ 400 “PROFILE_INCOMPLETE”</a:t>
            </a:r>
            <a:endParaRPr lang="en-US" sz="105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7A2323"/>
                </a:solidFill>
                <a:effectLst/>
                <a:uFillTx/>
                <a:latin typeface="Calibri"/>
                <a:ea typeface="Calibri"/>
              </a:rPr>
              <a:t>→ “Complete your profile” prompt</a:t>
            </a:r>
            <a:endParaRPr lang="en-US" sz="1050" b="0" u="none" strike="noStrike">
              <a:solidFill>
                <a:srgbClr val="000000"/>
              </a:solidFill>
              <a:effectLst/>
              <a:uFillTx/>
              <a:latin typeface="Arial"/>
            </a:endParaRPr>
          </a:p>
        </p:txBody>
      </p:sp>
      <p:sp>
        <p:nvSpPr>
          <p:cNvPr id="143" name="Shape 19"/>
          <p:cNvSpPr/>
          <p:nvPr/>
        </p:nvSpPr>
        <p:spPr>
          <a:xfrm>
            <a:off x="7863840" y="4251960"/>
            <a:ext cx="3776040" cy="868320"/>
          </a:xfrm>
          <a:prstGeom prst="roundRect">
            <a:avLst>
              <a:gd name="adj" fmla="val 7368"/>
            </a:avLst>
          </a:prstGeom>
          <a:solidFill>
            <a:srgbClr val="DEF2E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4" name="Text 20"/>
          <p:cNvSpPr/>
          <p:nvPr/>
        </p:nvSpPr>
        <p:spPr>
          <a:xfrm>
            <a:off x="8046720" y="4343400"/>
            <a:ext cx="34102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1E7A45"/>
                </a:solidFill>
                <a:effectLst/>
                <a:uFillTx/>
                <a:latin typeface="Calibri"/>
                <a:ea typeface="Calibri"/>
              </a:rPr>
              <a:t>Profile complete</a:t>
            </a:r>
            <a:endParaRPr lang="en-US" sz="1150" b="0" u="none" strike="noStrike">
              <a:solidFill>
                <a:srgbClr val="000000"/>
              </a:solidFill>
              <a:effectLst/>
              <a:uFillTx/>
              <a:latin typeface="Arial"/>
            </a:endParaRPr>
          </a:p>
        </p:txBody>
      </p:sp>
      <p:sp>
        <p:nvSpPr>
          <p:cNvPr id="145" name="Text 21"/>
          <p:cNvSpPr/>
          <p:nvPr/>
        </p:nvSpPr>
        <p:spPr>
          <a:xfrm>
            <a:off x="8046720" y="4636080"/>
            <a:ext cx="34102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17532F"/>
                </a:solidFill>
                <a:effectLst/>
                <a:uFillTx/>
                <a:latin typeface="Calibri"/>
                <a:ea typeface="Calibri"/>
              </a:rPr>
              <a:t>→ Order is created and saved</a:t>
            </a:r>
            <a:endParaRPr lang="en-US" sz="105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17532F"/>
                </a:solidFill>
                <a:effectLst/>
                <a:uFillTx/>
                <a:latin typeface="Calibri"/>
                <a:ea typeface="Calibri"/>
              </a:rPr>
              <a:t>→ Checkout continues</a:t>
            </a:r>
            <a:endParaRPr lang="en-US" sz="1050" b="0" u="none" strike="noStrike">
              <a:solidFill>
                <a:srgbClr val="000000"/>
              </a:solidFill>
              <a:effectLst/>
              <a:uFillTx/>
              <a:latin typeface="Arial"/>
            </a:endParaRPr>
          </a:p>
        </p:txBody>
      </p:sp>
      <p:sp>
        <p:nvSpPr>
          <p:cNvPr id="146" name="Text 22"/>
          <p:cNvSpPr/>
          <p:nvPr/>
        </p:nvSpPr>
        <p:spPr>
          <a:xfrm>
            <a:off x="548640" y="647388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7AEB8"/>
                </a:solidFill>
                <a:effectLst/>
                <a:uFillTx/>
                <a:latin typeface="Calibri"/>
                <a:ea typeface="Calibri"/>
              </a:rPr>
              <a:t>Restaurant 905</a:t>
            </a:r>
            <a:endParaRPr lang="en-US" sz="900" b="0" u="none" strike="noStrike">
              <a:solidFill>
                <a:srgbClr val="000000"/>
              </a:solidFill>
              <a:effectLst/>
              <a:uFillTx/>
              <a:latin typeface="Arial"/>
            </a:endParaRPr>
          </a:p>
        </p:txBody>
      </p:sp>
      <p:sp>
        <p:nvSpPr>
          <p:cNvPr id="147" name="Text 23"/>
          <p:cNvSpPr/>
          <p:nvPr/>
        </p:nvSpPr>
        <p:spPr>
          <a:xfrm>
            <a:off x="11091600" y="6473880"/>
            <a:ext cx="5482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A7AEB8"/>
                </a:solidFill>
                <a:effectLst/>
                <a:uFillTx/>
                <a:latin typeface="Calibri"/>
                <a:ea typeface="Calibri"/>
              </a:rPr>
              <a:t>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8" name="Text 0"/>
          <p:cNvSpPr/>
          <p:nvPr/>
        </p:nvSpPr>
        <p:spPr>
          <a:xfrm>
            <a:off x="548640" y="41148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F172B"/>
                </a:solidFill>
                <a:effectLst/>
                <a:uFillTx/>
                <a:latin typeface="Cambria"/>
                <a:ea typeface="Cambria"/>
              </a:rPr>
              <a:t>Contact &amp; Notification System</a:t>
            </a:r>
            <a:endParaRPr lang="en-US" sz="3000" b="0" u="none" strike="noStrike">
              <a:solidFill>
                <a:srgbClr val="000000"/>
              </a:solidFill>
              <a:effectLst/>
              <a:uFillTx/>
              <a:latin typeface="Arial"/>
            </a:endParaRPr>
          </a:p>
        </p:txBody>
      </p:sp>
      <p:sp>
        <p:nvSpPr>
          <p:cNvPr id="149" name="Text 1"/>
          <p:cNvSpPr/>
          <p:nvPr/>
        </p:nvSpPr>
        <p:spPr>
          <a:xfrm>
            <a:off x="548640" y="1051560"/>
            <a:ext cx="110912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B7480"/>
                </a:solidFill>
                <a:effectLst/>
                <a:uFillTx/>
                <a:latin typeface="Calibri"/>
                <a:ea typeface="Calibri"/>
              </a:rPr>
              <a:t>Sending a message also requires a completed profile</a:t>
            </a:r>
            <a:endParaRPr lang="en-US" sz="1400" b="0" u="none" strike="noStrike">
              <a:solidFill>
                <a:srgbClr val="000000"/>
              </a:solidFill>
              <a:effectLst/>
              <a:uFillTx/>
              <a:latin typeface="Arial"/>
            </a:endParaRPr>
          </a:p>
        </p:txBody>
      </p:sp>
      <p:sp>
        <p:nvSpPr>
          <p:cNvPr id="150" name="Shape 2"/>
          <p:cNvSpPr/>
          <p:nvPr/>
        </p:nvSpPr>
        <p:spPr>
          <a:xfrm>
            <a:off x="548640" y="1828800"/>
            <a:ext cx="5257440" cy="4023000"/>
          </a:xfrm>
          <a:prstGeom prst="roundRect">
            <a:avLst>
              <a:gd name="adj" fmla="val 1818"/>
            </a:avLst>
          </a:prstGeom>
          <a:solidFill>
            <a:srgbClr val="EE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1" name="Text 3"/>
          <p:cNvSpPr/>
          <p:nvPr/>
        </p:nvSpPr>
        <p:spPr>
          <a:xfrm>
            <a:off x="822960" y="2057400"/>
            <a:ext cx="47088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0F172B"/>
                </a:solidFill>
                <a:effectLst/>
                <a:uFillTx/>
                <a:latin typeface="Cambria"/>
                <a:ea typeface="Cambria"/>
              </a:rPr>
              <a:t>Customer Side</a:t>
            </a:r>
            <a:endParaRPr lang="en-US" sz="1700" b="0" u="none" strike="noStrike">
              <a:solidFill>
                <a:srgbClr val="000000"/>
              </a:solidFill>
              <a:effectLst/>
              <a:uFillTx/>
              <a:latin typeface="Arial"/>
            </a:endParaRPr>
          </a:p>
        </p:txBody>
      </p:sp>
      <p:sp>
        <p:nvSpPr>
          <p:cNvPr id="152" name="Text 4"/>
          <p:cNvSpPr/>
          <p:nvPr/>
        </p:nvSpPr>
        <p:spPr>
          <a:xfrm>
            <a:off x="822960" y="2606040"/>
            <a:ext cx="4708800" cy="301716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400"/>
              </a:spcAft>
              <a:buClr>
                <a:srgbClr val="3B4453"/>
              </a:buClr>
              <a:buFont typeface="Symbol" charset="2"/>
              <a:buChar char=""/>
            </a:pPr>
            <a:r>
              <a:rPr lang="en-US" sz="1250" b="0" u="none" strike="noStrike">
                <a:solidFill>
                  <a:srgbClr val="3B4453"/>
                </a:solidFill>
                <a:effectLst/>
                <a:uFillTx/>
                <a:latin typeface="Calibri"/>
                <a:ea typeface="Calibri"/>
              </a:rPr>
              <a:t>Sends a message via the Contact form</a:t>
            </a:r>
            <a:endParaRPr lang="en-US" sz="1250" b="0" u="none" strike="noStrike">
              <a:solidFill>
                <a:srgbClr val="000000"/>
              </a:solidFill>
              <a:effectLst/>
              <a:uFillTx/>
              <a:latin typeface="Arial"/>
            </a:endParaRPr>
          </a:p>
          <a:p>
            <a:pPr marL="343080" indent="-343080" defTabSz="914400">
              <a:lnSpc>
                <a:spcPct val="100000"/>
              </a:lnSpc>
              <a:spcAft>
                <a:spcPts val="1400"/>
              </a:spcAft>
              <a:buClr>
                <a:srgbClr val="3B4453"/>
              </a:buClr>
              <a:buFont typeface="Symbol" charset="2"/>
              <a:buChar char=""/>
            </a:pPr>
            <a:r>
              <a:rPr lang="en-US" sz="1250" b="0" u="none" strike="noStrike">
                <a:solidFill>
                  <a:srgbClr val="3B4453"/>
                </a:solidFill>
                <a:effectLst/>
                <a:uFillTx/>
                <a:latin typeface="Calibri"/>
                <a:ea typeface="Calibri"/>
              </a:rPr>
              <a:t>Message is saved with isRead = true (they just sent it)</a:t>
            </a:r>
            <a:endParaRPr lang="en-US" sz="1250" b="0" u="none" strike="noStrike">
              <a:solidFill>
                <a:srgbClr val="000000"/>
              </a:solidFill>
              <a:effectLst/>
              <a:uFillTx/>
              <a:latin typeface="Arial"/>
            </a:endParaRPr>
          </a:p>
          <a:p>
            <a:pPr marL="343080" indent="-343080" defTabSz="914400">
              <a:lnSpc>
                <a:spcPct val="100000"/>
              </a:lnSpc>
              <a:spcAft>
                <a:spcPts val="1400"/>
              </a:spcAft>
              <a:buClr>
                <a:srgbClr val="3B4453"/>
              </a:buClr>
              <a:buFont typeface="Symbol" charset="2"/>
              <a:buChar char=""/>
            </a:pPr>
            <a:r>
              <a:rPr lang="en-US" sz="1250" b="0" u="none" strike="noStrike">
                <a:solidFill>
                  <a:srgbClr val="3B4453"/>
                </a:solidFill>
                <a:effectLst/>
                <a:uFillTx/>
                <a:latin typeface="Calibri"/>
                <a:ea typeface="Calibri"/>
              </a:rPr>
              <a:t>The bell icon polls /unread-count on login</a:t>
            </a:r>
            <a:endParaRPr lang="en-US" sz="1250" b="0" u="none" strike="noStrike">
              <a:solidFill>
                <a:srgbClr val="000000"/>
              </a:solidFill>
              <a:effectLst/>
              <a:uFillTx/>
              <a:latin typeface="Arial"/>
            </a:endParaRPr>
          </a:p>
          <a:p>
            <a:pPr marL="343080" indent="-343080" defTabSz="914400">
              <a:lnSpc>
                <a:spcPct val="100000"/>
              </a:lnSpc>
              <a:spcAft>
                <a:spcPts val="1400"/>
              </a:spcAft>
              <a:buClr>
                <a:srgbClr val="3B4453"/>
              </a:buClr>
              <a:buFont typeface="Symbol" charset="2"/>
              <a:buChar char=""/>
            </a:pPr>
            <a:r>
              <a:rPr lang="en-US" sz="1250" b="0" u="none" strike="noStrike">
                <a:solidFill>
                  <a:srgbClr val="3B4453"/>
                </a:solidFill>
                <a:effectLst/>
                <a:uFillTx/>
                <a:latin typeface="Calibri"/>
                <a:ea typeface="Calibri"/>
              </a:rPr>
              <a:t>Opens “My Messages” to read the Admin's reply</a:t>
            </a:r>
            <a:endParaRPr lang="en-US" sz="1250" b="0" u="none" strike="noStrike">
              <a:solidFill>
                <a:srgbClr val="000000"/>
              </a:solidFill>
              <a:effectLst/>
              <a:uFillTx/>
              <a:latin typeface="Arial"/>
            </a:endParaRPr>
          </a:p>
        </p:txBody>
      </p:sp>
      <p:sp>
        <p:nvSpPr>
          <p:cNvPr id="153" name="Shape 5"/>
          <p:cNvSpPr/>
          <p:nvPr/>
        </p:nvSpPr>
        <p:spPr>
          <a:xfrm>
            <a:off x="6172200" y="1828800"/>
            <a:ext cx="5257440" cy="4023000"/>
          </a:xfrm>
          <a:prstGeom prst="roundRect">
            <a:avLst>
              <a:gd name="adj" fmla="val 1818"/>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4" name="Text 6"/>
          <p:cNvSpPr/>
          <p:nvPr/>
        </p:nvSpPr>
        <p:spPr>
          <a:xfrm>
            <a:off x="6446520" y="2057400"/>
            <a:ext cx="47088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FEA116"/>
                </a:solidFill>
                <a:effectLst/>
                <a:uFillTx/>
                <a:latin typeface="Cambria"/>
                <a:ea typeface="Cambria"/>
              </a:rPr>
              <a:t>Admin Side</a:t>
            </a:r>
            <a:endParaRPr lang="en-US" sz="1700" b="0" u="none" strike="noStrike">
              <a:solidFill>
                <a:srgbClr val="000000"/>
              </a:solidFill>
              <a:effectLst/>
              <a:uFillTx/>
              <a:latin typeface="Arial"/>
            </a:endParaRPr>
          </a:p>
        </p:txBody>
      </p:sp>
      <p:sp>
        <p:nvSpPr>
          <p:cNvPr id="155" name="Text 7"/>
          <p:cNvSpPr/>
          <p:nvPr/>
        </p:nvSpPr>
        <p:spPr>
          <a:xfrm>
            <a:off x="6446520" y="2606040"/>
            <a:ext cx="4708800" cy="301716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400"/>
              </a:spcAft>
              <a:buClr>
                <a:srgbClr val="FFFFFF"/>
              </a:buClr>
              <a:buFont typeface="Symbol" charset="2"/>
              <a:buChar char=""/>
            </a:pPr>
            <a:r>
              <a:rPr lang="en-US" sz="1250" b="0" u="none" strike="noStrike">
                <a:solidFill>
                  <a:srgbClr val="FFFFFF"/>
                </a:solidFill>
                <a:effectLst/>
                <a:uFillTx/>
                <a:latin typeface="Calibri"/>
                <a:ea typeface="Calibri"/>
              </a:rPr>
              <a:t>Views all customer messages</a:t>
            </a:r>
            <a:endParaRPr lang="en-US" sz="1250" b="0" u="none" strike="noStrike">
              <a:solidFill>
                <a:srgbClr val="000000"/>
              </a:solidFill>
              <a:effectLst/>
              <a:uFillTx/>
              <a:latin typeface="Arial"/>
            </a:endParaRPr>
          </a:p>
          <a:p>
            <a:pPr marL="343080" indent="-343080" defTabSz="914400">
              <a:lnSpc>
                <a:spcPct val="100000"/>
              </a:lnSpc>
              <a:spcAft>
                <a:spcPts val="1400"/>
              </a:spcAft>
              <a:buClr>
                <a:srgbClr val="FFFFFF"/>
              </a:buClr>
              <a:buFont typeface="Symbol" charset="2"/>
              <a:buChar char=""/>
            </a:pPr>
            <a:r>
              <a:rPr lang="en-US" sz="1250" b="0" u="none" strike="noStrike">
                <a:solidFill>
                  <a:srgbClr val="FFFFFF"/>
                </a:solidFill>
                <a:effectLst/>
                <a:uFillTx/>
                <a:latin typeface="Calibri"/>
                <a:ea typeface="Calibri"/>
              </a:rPr>
              <a:t>Writes and sends a reply</a:t>
            </a:r>
            <a:endParaRPr lang="en-US" sz="1250" b="0" u="none" strike="noStrike">
              <a:solidFill>
                <a:srgbClr val="000000"/>
              </a:solidFill>
              <a:effectLst/>
              <a:uFillTx/>
              <a:latin typeface="Arial"/>
            </a:endParaRPr>
          </a:p>
          <a:p>
            <a:pPr marL="343080" indent="-343080" defTabSz="914400">
              <a:lnSpc>
                <a:spcPct val="100000"/>
              </a:lnSpc>
              <a:spcAft>
                <a:spcPts val="1400"/>
              </a:spcAft>
              <a:buClr>
                <a:srgbClr val="FFFFFF"/>
              </a:buClr>
              <a:buFont typeface="Symbol" charset="2"/>
              <a:buChar char=""/>
            </a:pPr>
            <a:r>
              <a:rPr lang="en-US" sz="1250" b="0" u="none" strike="noStrike">
                <a:solidFill>
                  <a:srgbClr val="FFFFFF"/>
                </a:solidFill>
                <a:effectLst/>
                <a:uFillTx/>
                <a:latin typeface="Calibri"/>
                <a:ea typeface="Calibri"/>
              </a:rPr>
              <a:t>Reply sets isReplied = true and isRead = false</a:t>
            </a:r>
            <a:endParaRPr lang="en-US" sz="1250" b="0" u="none" strike="noStrike">
              <a:solidFill>
                <a:srgbClr val="000000"/>
              </a:solidFill>
              <a:effectLst/>
              <a:uFillTx/>
              <a:latin typeface="Arial"/>
            </a:endParaRPr>
          </a:p>
          <a:p>
            <a:pPr marL="343080" indent="-343080" defTabSz="914400">
              <a:lnSpc>
                <a:spcPct val="100000"/>
              </a:lnSpc>
              <a:spcAft>
                <a:spcPts val="1400"/>
              </a:spcAft>
              <a:buClr>
                <a:srgbClr val="FFFFFF"/>
              </a:buClr>
              <a:buFont typeface="Symbol" charset="2"/>
              <a:buChar char=""/>
            </a:pPr>
            <a:r>
              <a:rPr lang="en-US" sz="1250" b="0" u="none" strike="noStrike">
                <a:solidFill>
                  <a:srgbClr val="FFFFFF"/>
                </a:solidFill>
                <a:effectLst/>
                <a:uFillTx/>
                <a:latin typeface="Calibri"/>
                <a:ea typeface="Calibri"/>
              </a:rPr>
              <a:t>This flips the customer's notification badge on</a:t>
            </a:r>
            <a:endParaRPr lang="en-US" sz="1250" b="0" u="none" strike="noStrike">
              <a:solidFill>
                <a:srgbClr val="000000"/>
              </a:solidFill>
              <a:effectLst/>
              <a:uFillTx/>
              <a:latin typeface="Arial"/>
            </a:endParaRPr>
          </a:p>
        </p:txBody>
      </p:sp>
      <p:sp>
        <p:nvSpPr>
          <p:cNvPr id="156" name="Text 8"/>
          <p:cNvSpPr/>
          <p:nvPr/>
        </p:nvSpPr>
        <p:spPr>
          <a:xfrm>
            <a:off x="548640" y="647388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7AEB8"/>
                </a:solidFill>
                <a:effectLst/>
                <a:uFillTx/>
                <a:latin typeface="Calibri"/>
                <a:ea typeface="Calibri"/>
              </a:rPr>
              <a:t>Restaurant 905</a:t>
            </a:r>
            <a:endParaRPr lang="en-US" sz="900" b="0" u="none" strike="noStrike">
              <a:solidFill>
                <a:srgbClr val="000000"/>
              </a:solidFill>
              <a:effectLst/>
              <a:uFillTx/>
              <a:latin typeface="Arial"/>
            </a:endParaRPr>
          </a:p>
        </p:txBody>
      </p:sp>
      <p:sp>
        <p:nvSpPr>
          <p:cNvPr id="157" name="Text 9"/>
          <p:cNvSpPr/>
          <p:nvPr/>
        </p:nvSpPr>
        <p:spPr>
          <a:xfrm>
            <a:off x="11091600" y="6473880"/>
            <a:ext cx="5482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A7AEB8"/>
                </a:solidFill>
                <a:effectLst/>
                <a:uFillTx/>
                <a:latin typeface="Calibri"/>
                <a:ea typeface="Calibri"/>
              </a:rPr>
              <a:t>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8" name="Text 0"/>
          <p:cNvSpPr/>
          <p:nvPr/>
        </p:nvSpPr>
        <p:spPr>
          <a:xfrm>
            <a:off x="548640" y="41148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F172B"/>
                </a:solidFill>
                <a:effectLst/>
                <a:uFillTx/>
                <a:latin typeface="Cambria"/>
                <a:ea typeface="Cambria"/>
              </a:rPr>
              <a:t>Admin Panel</a:t>
            </a:r>
            <a:endParaRPr lang="en-US" sz="3000" b="0" u="none" strike="noStrike">
              <a:solidFill>
                <a:srgbClr val="000000"/>
              </a:solidFill>
              <a:effectLst/>
              <a:uFillTx/>
              <a:latin typeface="Arial"/>
            </a:endParaRPr>
          </a:p>
        </p:txBody>
      </p:sp>
      <p:sp>
        <p:nvSpPr>
          <p:cNvPr id="159" name="Shape 1"/>
          <p:cNvSpPr/>
          <p:nvPr/>
        </p:nvSpPr>
        <p:spPr>
          <a:xfrm>
            <a:off x="548640" y="1645920"/>
            <a:ext cx="3428640" cy="2377080"/>
          </a:xfrm>
          <a:prstGeom prst="roundRect">
            <a:avLst>
              <a:gd name="adj" fmla="val 3077"/>
            </a:avLst>
          </a:prstGeom>
          <a:solidFill>
            <a:srgbClr val="EE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0" name="Shape 2"/>
          <p:cNvSpPr/>
          <p:nvPr/>
        </p:nvSpPr>
        <p:spPr>
          <a:xfrm>
            <a:off x="822960" y="1920240"/>
            <a:ext cx="502560" cy="502560"/>
          </a:xfrm>
          <a:prstGeom prst="ellipse">
            <a:avLst/>
          </a:prstGeom>
          <a:solidFill>
            <a:srgbClr val="FEA11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1" name="Text 3"/>
          <p:cNvSpPr/>
          <p:nvPr/>
        </p:nvSpPr>
        <p:spPr>
          <a:xfrm>
            <a:off x="822960" y="192024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1</a:t>
            </a:r>
            <a:endParaRPr lang="en-US" sz="1400" b="0" u="none" strike="noStrike">
              <a:solidFill>
                <a:srgbClr val="000000"/>
              </a:solidFill>
              <a:effectLst/>
              <a:uFillTx/>
              <a:latin typeface="Arial"/>
            </a:endParaRPr>
          </a:p>
        </p:txBody>
      </p:sp>
      <p:sp>
        <p:nvSpPr>
          <p:cNvPr id="162" name="Text 4"/>
          <p:cNvSpPr/>
          <p:nvPr/>
        </p:nvSpPr>
        <p:spPr>
          <a:xfrm>
            <a:off x="822960" y="2606040"/>
            <a:ext cx="28800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F172B"/>
                </a:solidFill>
                <a:effectLst/>
                <a:uFillTx/>
                <a:latin typeface="Calibri"/>
                <a:ea typeface="Calibri"/>
              </a:rPr>
              <a:t>Messages</a:t>
            </a:r>
            <a:endParaRPr lang="en-US" sz="1600" b="0" u="none" strike="noStrike">
              <a:solidFill>
                <a:srgbClr val="000000"/>
              </a:solidFill>
              <a:effectLst/>
              <a:uFillTx/>
              <a:latin typeface="Arial"/>
            </a:endParaRPr>
          </a:p>
        </p:txBody>
      </p:sp>
      <p:sp>
        <p:nvSpPr>
          <p:cNvPr id="163" name="Text 5"/>
          <p:cNvSpPr/>
          <p:nvPr/>
        </p:nvSpPr>
        <p:spPr>
          <a:xfrm>
            <a:off x="822960" y="3108960"/>
            <a:ext cx="288000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3B4453"/>
                </a:solidFill>
                <a:effectLst/>
                <a:uFillTx/>
                <a:latin typeface="Calibri"/>
                <a:ea typeface="Calibri"/>
              </a:rPr>
              <a:t>View all customer inquiries and send replies.</a:t>
            </a:r>
            <a:endParaRPr lang="en-US" sz="1200" b="0" u="none" strike="noStrike">
              <a:solidFill>
                <a:srgbClr val="000000"/>
              </a:solidFill>
              <a:effectLst/>
              <a:uFillTx/>
              <a:latin typeface="Arial"/>
            </a:endParaRPr>
          </a:p>
        </p:txBody>
      </p:sp>
      <p:sp>
        <p:nvSpPr>
          <p:cNvPr id="164" name="Shape 6"/>
          <p:cNvSpPr/>
          <p:nvPr/>
        </p:nvSpPr>
        <p:spPr>
          <a:xfrm>
            <a:off x="4297680" y="1645920"/>
            <a:ext cx="3428640" cy="2377080"/>
          </a:xfrm>
          <a:prstGeom prst="roundRect">
            <a:avLst>
              <a:gd name="adj" fmla="val 3077"/>
            </a:avLst>
          </a:prstGeom>
          <a:solidFill>
            <a:srgbClr val="FEA11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5" name="Shape 7"/>
          <p:cNvSpPr/>
          <p:nvPr/>
        </p:nvSpPr>
        <p:spPr>
          <a:xfrm>
            <a:off x="4572000" y="1920240"/>
            <a:ext cx="502560" cy="502560"/>
          </a:xfrm>
          <a:prstGeom prst="ellipse">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6" name="Text 8"/>
          <p:cNvSpPr/>
          <p:nvPr/>
        </p:nvSpPr>
        <p:spPr>
          <a:xfrm>
            <a:off x="4572000" y="192024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2</a:t>
            </a:r>
            <a:endParaRPr lang="en-US" sz="1400" b="0" u="none" strike="noStrike">
              <a:solidFill>
                <a:srgbClr val="000000"/>
              </a:solidFill>
              <a:effectLst/>
              <a:uFillTx/>
              <a:latin typeface="Arial"/>
            </a:endParaRPr>
          </a:p>
        </p:txBody>
      </p:sp>
      <p:sp>
        <p:nvSpPr>
          <p:cNvPr id="167" name="Text 9"/>
          <p:cNvSpPr/>
          <p:nvPr/>
        </p:nvSpPr>
        <p:spPr>
          <a:xfrm>
            <a:off x="4572000" y="2606040"/>
            <a:ext cx="28800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F172B"/>
                </a:solidFill>
                <a:effectLst/>
                <a:uFillTx/>
                <a:latin typeface="Calibri"/>
                <a:ea typeface="Calibri"/>
              </a:rPr>
              <a:t>Orders</a:t>
            </a:r>
            <a:endParaRPr lang="en-US" sz="1600" b="0" u="none" strike="noStrike">
              <a:solidFill>
                <a:srgbClr val="000000"/>
              </a:solidFill>
              <a:effectLst/>
              <a:uFillTx/>
              <a:latin typeface="Arial"/>
            </a:endParaRPr>
          </a:p>
        </p:txBody>
      </p:sp>
      <p:sp>
        <p:nvSpPr>
          <p:cNvPr id="168" name="Text 10"/>
          <p:cNvSpPr/>
          <p:nvPr/>
        </p:nvSpPr>
        <p:spPr>
          <a:xfrm>
            <a:off x="4572000" y="3108960"/>
            <a:ext cx="288000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3A2E00"/>
                </a:solidFill>
                <a:effectLst/>
                <a:uFillTx/>
                <a:latin typeface="Calibri"/>
                <a:ea typeface="Calibri"/>
              </a:rPr>
              <a:t>Track every order placed across all customers.</a:t>
            </a:r>
            <a:endParaRPr lang="en-US" sz="1200" b="0" u="none" strike="noStrike">
              <a:solidFill>
                <a:srgbClr val="000000"/>
              </a:solidFill>
              <a:effectLst/>
              <a:uFillTx/>
              <a:latin typeface="Arial"/>
            </a:endParaRPr>
          </a:p>
        </p:txBody>
      </p:sp>
      <p:sp>
        <p:nvSpPr>
          <p:cNvPr id="169" name="Shape 11"/>
          <p:cNvSpPr/>
          <p:nvPr/>
        </p:nvSpPr>
        <p:spPr>
          <a:xfrm>
            <a:off x="8046720" y="1645920"/>
            <a:ext cx="3428640" cy="2377080"/>
          </a:xfrm>
          <a:prstGeom prst="roundRect">
            <a:avLst>
              <a:gd name="adj" fmla="val 3077"/>
            </a:avLst>
          </a:prstGeom>
          <a:solidFill>
            <a:srgbClr val="EEF1F5"/>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0" name="Shape 12"/>
          <p:cNvSpPr/>
          <p:nvPr/>
        </p:nvSpPr>
        <p:spPr>
          <a:xfrm>
            <a:off x="8321040" y="1920240"/>
            <a:ext cx="502560" cy="502560"/>
          </a:xfrm>
          <a:prstGeom prst="ellipse">
            <a:avLst/>
          </a:prstGeom>
          <a:solidFill>
            <a:srgbClr val="FEA116"/>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1" name="Text 13"/>
          <p:cNvSpPr/>
          <p:nvPr/>
        </p:nvSpPr>
        <p:spPr>
          <a:xfrm>
            <a:off x="8321040" y="192024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3</a:t>
            </a:r>
            <a:endParaRPr lang="en-US" sz="1400" b="0" u="none" strike="noStrike">
              <a:solidFill>
                <a:srgbClr val="000000"/>
              </a:solidFill>
              <a:effectLst/>
              <a:uFillTx/>
              <a:latin typeface="Arial"/>
            </a:endParaRPr>
          </a:p>
        </p:txBody>
      </p:sp>
      <p:sp>
        <p:nvSpPr>
          <p:cNvPr id="172" name="Text 14"/>
          <p:cNvSpPr/>
          <p:nvPr/>
        </p:nvSpPr>
        <p:spPr>
          <a:xfrm>
            <a:off x="8321040" y="2606040"/>
            <a:ext cx="28800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F172B"/>
                </a:solidFill>
                <a:effectLst/>
                <a:uFillTx/>
                <a:latin typeface="Calibri"/>
                <a:ea typeface="Calibri"/>
              </a:rPr>
              <a:t>Add / Remove Food</a:t>
            </a:r>
            <a:endParaRPr lang="en-US" sz="1600" b="0" u="none" strike="noStrike">
              <a:solidFill>
                <a:srgbClr val="000000"/>
              </a:solidFill>
              <a:effectLst/>
              <a:uFillTx/>
              <a:latin typeface="Arial"/>
            </a:endParaRPr>
          </a:p>
        </p:txBody>
      </p:sp>
      <p:sp>
        <p:nvSpPr>
          <p:cNvPr id="173" name="Text 15"/>
          <p:cNvSpPr/>
          <p:nvPr/>
        </p:nvSpPr>
        <p:spPr>
          <a:xfrm>
            <a:off x="8321040" y="3108960"/>
            <a:ext cx="288000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3B4453"/>
                </a:solidFill>
                <a:effectLst/>
                <a:uFillTx/>
                <a:latin typeface="Calibri"/>
                <a:ea typeface="Calibri"/>
              </a:rPr>
              <a:t>Create new menu items or delete existing ones.</a:t>
            </a:r>
            <a:endParaRPr lang="en-US" sz="1200" b="0" u="none" strike="noStrike">
              <a:solidFill>
                <a:srgbClr val="000000"/>
              </a:solidFill>
              <a:effectLst/>
              <a:uFillTx/>
              <a:latin typeface="Arial"/>
            </a:endParaRPr>
          </a:p>
        </p:txBody>
      </p:sp>
      <p:sp>
        <p:nvSpPr>
          <p:cNvPr id="174" name="Text 16"/>
          <p:cNvSpPr/>
          <p:nvPr/>
        </p:nvSpPr>
        <p:spPr>
          <a:xfrm>
            <a:off x="548640" y="4389120"/>
            <a:ext cx="110912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en-US" sz="1200" b="0" i="1" u="none" strike="noStrike">
                <a:solidFill>
                  <a:srgbClr val="6B7480"/>
                </a:solidFill>
                <a:effectLst/>
                <a:uFillTx/>
                <a:latin typeface="Calibri"/>
                <a:ea typeface="Calibri"/>
              </a:rPr>
              <a:t>Note: in the dashboard, it shows the Users card (for admin to view and control users), this feature is yet to be implemented and is marked “Coming Soon” and is not yet functional.</a:t>
            </a:r>
            <a:endParaRPr lang="en-US" sz="1200" b="0" u="none" strike="noStrike">
              <a:solidFill>
                <a:srgbClr val="000000"/>
              </a:solidFill>
              <a:effectLst/>
              <a:uFillTx/>
              <a:latin typeface="Arial"/>
            </a:endParaRPr>
          </a:p>
        </p:txBody>
      </p:sp>
      <p:sp>
        <p:nvSpPr>
          <p:cNvPr id="175" name="Text 17"/>
          <p:cNvSpPr/>
          <p:nvPr/>
        </p:nvSpPr>
        <p:spPr>
          <a:xfrm>
            <a:off x="548640" y="4800600"/>
            <a:ext cx="110912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i="1" u="none" strike="noStrike">
                <a:solidFill>
                  <a:srgbClr val="6B7480"/>
                </a:solidFill>
                <a:effectLst/>
                <a:uFillTx/>
                <a:latin typeface="Calibri"/>
                <a:ea typeface="Calibri"/>
              </a:rPr>
              <a:t>Access control: Admin-only screens are gated by Angular route guards (isAdmin()); every protected API call still requires a valid JWT.</a:t>
            </a:r>
            <a:endParaRPr lang="en-US" sz="1200" b="0" u="none" strike="noStrike">
              <a:solidFill>
                <a:srgbClr val="000000"/>
              </a:solidFill>
              <a:effectLst/>
              <a:uFillTx/>
              <a:latin typeface="Arial"/>
            </a:endParaRPr>
          </a:p>
        </p:txBody>
      </p:sp>
      <p:sp>
        <p:nvSpPr>
          <p:cNvPr id="176" name="Text 18"/>
          <p:cNvSpPr/>
          <p:nvPr/>
        </p:nvSpPr>
        <p:spPr>
          <a:xfrm>
            <a:off x="548640" y="647388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7AEB8"/>
                </a:solidFill>
                <a:effectLst/>
                <a:uFillTx/>
                <a:latin typeface="Calibri"/>
                <a:ea typeface="Calibri"/>
              </a:rPr>
              <a:t>Restaurant 905</a:t>
            </a:r>
            <a:endParaRPr lang="en-US" sz="900" b="0" u="none" strike="noStrike">
              <a:solidFill>
                <a:srgbClr val="000000"/>
              </a:solidFill>
              <a:effectLst/>
              <a:uFillTx/>
              <a:latin typeface="Arial"/>
            </a:endParaRPr>
          </a:p>
        </p:txBody>
      </p:sp>
      <p:sp>
        <p:nvSpPr>
          <p:cNvPr id="177" name="Text 19"/>
          <p:cNvSpPr/>
          <p:nvPr/>
        </p:nvSpPr>
        <p:spPr>
          <a:xfrm>
            <a:off x="11091600" y="6473880"/>
            <a:ext cx="5482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A7AEB8"/>
                </a:solidFill>
                <a:effectLst/>
                <a:uFillTx/>
                <a:latin typeface="Calibri"/>
                <a:ea typeface="Calibri"/>
              </a:rPr>
              <a:t>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8" name="Text 0"/>
          <p:cNvSpPr/>
          <p:nvPr/>
        </p:nvSpPr>
        <p:spPr>
          <a:xfrm>
            <a:off x="548640" y="41148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F172B"/>
                </a:solidFill>
                <a:effectLst/>
                <a:uFillTx/>
                <a:latin typeface="Cambria"/>
                <a:ea typeface="Cambria"/>
              </a:rPr>
              <a:t>Core Data Model</a:t>
            </a:r>
            <a:endParaRPr lang="en-US" sz="3000" b="0" u="none" strike="noStrike">
              <a:solidFill>
                <a:srgbClr val="000000"/>
              </a:solidFill>
              <a:effectLst/>
              <a:uFillTx/>
              <a:latin typeface="Arial"/>
            </a:endParaRPr>
          </a:p>
        </p:txBody>
      </p:sp>
      <p:sp>
        <p:nvSpPr>
          <p:cNvPr id="179" name="Shape 1"/>
          <p:cNvSpPr/>
          <p:nvPr/>
        </p:nvSpPr>
        <p:spPr>
          <a:xfrm>
            <a:off x="548640" y="1463040"/>
            <a:ext cx="2559960" cy="2102760"/>
          </a:xfrm>
          <a:prstGeom prst="roundRect">
            <a:avLst>
              <a:gd name="adj" fmla="val 3043"/>
            </a:avLst>
          </a:prstGeom>
          <a:solidFill>
            <a:srgbClr val="EEF1F5"/>
          </a:solidFill>
          <a:ln w="12700">
            <a:solidFill>
              <a:srgbClr val="DADFE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0" name="Shape 2"/>
          <p:cNvSpPr/>
          <p:nvPr/>
        </p:nvSpPr>
        <p:spPr>
          <a:xfrm>
            <a:off x="548640" y="1463040"/>
            <a:ext cx="2559960" cy="502560"/>
          </a:xfrm>
          <a:prstGeom prst="roundRect">
            <a:avLst>
              <a:gd name="adj" fmla="val 12727"/>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1" name="Shape 3"/>
          <p:cNvSpPr/>
          <p:nvPr/>
        </p:nvSpPr>
        <p:spPr>
          <a:xfrm>
            <a:off x="548640" y="1719000"/>
            <a:ext cx="2559960" cy="246600"/>
          </a:xfrm>
          <a:prstGeom prst="rect">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2" name="Text 4"/>
          <p:cNvSpPr/>
          <p:nvPr/>
        </p:nvSpPr>
        <p:spPr>
          <a:xfrm>
            <a:off x="548640" y="1463040"/>
            <a:ext cx="25599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Account</a:t>
            </a:r>
            <a:endParaRPr lang="en-US" sz="1300" b="0" u="none" strike="noStrike">
              <a:solidFill>
                <a:srgbClr val="000000"/>
              </a:solidFill>
              <a:effectLst/>
              <a:uFillTx/>
              <a:latin typeface="Arial"/>
            </a:endParaRPr>
          </a:p>
        </p:txBody>
      </p:sp>
      <p:sp>
        <p:nvSpPr>
          <p:cNvPr id="183" name="Text 5"/>
          <p:cNvSpPr/>
          <p:nvPr/>
        </p:nvSpPr>
        <p:spPr>
          <a:xfrm>
            <a:off x="685800" y="2057400"/>
            <a:ext cx="228564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3B4453"/>
                </a:solidFill>
                <a:effectLst/>
                <a:uFillTx/>
                <a:latin typeface="Calibri"/>
                <a:ea typeface="Calibri"/>
              </a:rPr>
              <a:t>username, email, password,</a:t>
            </a:r>
            <a:endParaRPr lang="en-US" sz="105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3B4453"/>
                </a:solidFill>
                <a:effectLst/>
                <a:uFillTx/>
                <a:latin typeface="Calibri"/>
                <a:ea typeface="Calibri"/>
              </a:rPr>
              <a:t>roles[], accountDetails</a:t>
            </a:r>
            <a:endParaRPr lang="en-US" sz="1050" b="0" u="none" strike="noStrike">
              <a:solidFill>
                <a:srgbClr val="000000"/>
              </a:solidFill>
              <a:effectLst/>
              <a:uFillTx/>
              <a:latin typeface="Arial"/>
            </a:endParaRPr>
          </a:p>
        </p:txBody>
      </p:sp>
      <p:sp>
        <p:nvSpPr>
          <p:cNvPr id="184" name="Shape 6"/>
          <p:cNvSpPr/>
          <p:nvPr/>
        </p:nvSpPr>
        <p:spPr>
          <a:xfrm>
            <a:off x="3328560" y="1463040"/>
            <a:ext cx="2559960" cy="2102760"/>
          </a:xfrm>
          <a:prstGeom prst="roundRect">
            <a:avLst>
              <a:gd name="adj" fmla="val 3043"/>
            </a:avLst>
          </a:prstGeom>
          <a:solidFill>
            <a:srgbClr val="EEF1F5"/>
          </a:solidFill>
          <a:ln w="12700">
            <a:solidFill>
              <a:srgbClr val="DADFE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5" name="Shape 7"/>
          <p:cNvSpPr/>
          <p:nvPr/>
        </p:nvSpPr>
        <p:spPr>
          <a:xfrm>
            <a:off x="3328560" y="1463040"/>
            <a:ext cx="2559960" cy="502560"/>
          </a:xfrm>
          <a:prstGeom prst="roundRect">
            <a:avLst>
              <a:gd name="adj" fmla="val 12727"/>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6" name="Shape 8"/>
          <p:cNvSpPr/>
          <p:nvPr/>
        </p:nvSpPr>
        <p:spPr>
          <a:xfrm>
            <a:off x="3328560" y="1719000"/>
            <a:ext cx="2559960" cy="246600"/>
          </a:xfrm>
          <a:prstGeom prst="rect">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7" name="Text 9"/>
          <p:cNvSpPr/>
          <p:nvPr/>
        </p:nvSpPr>
        <p:spPr>
          <a:xfrm>
            <a:off x="3328560" y="1463040"/>
            <a:ext cx="25599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AccountDetails</a:t>
            </a:r>
            <a:endParaRPr lang="en-US" sz="1300" b="0" u="none" strike="noStrike">
              <a:solidFill>
                <a:srgbClr val="000000"/>
              </a:solidFill>
              <a:effectLst/>
              <a:uFillTx/>
              <a:latin typeface="Arial"/>
            </a:endParaRPr>
          </a:p>
        </p:txBody>
      </p:sp>
      <p:sp>
        <p:nvSpPr>
          <p:cNvPr id="188" name="Text 10"/>
          <p:cNvSpPr/>
          <p:nvPr/>
        </p:nvSpPr>
        <p:spPr>
          <a:xfrm>
            <a:off x="3465720" y="2057400"/>
            <a:ext cx="228564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3B4453"/>
                </a:solidFill>
                <a:effectLst/>
                <a:uFillTx/>
                <a:latin typeface="Calibri"/>
                <a:ea typeface="Calibri"/>
              </a:rPr>
              <a:t>phone, address, age</a:t>
            </a:r>
            <a:endParaRPr lang="en-US" sz="105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3B4453"/>
                </a:solidFill>
                <a:effectLst/>
                <a:uFillTx/>
                <a:latin typeface="Calibri"/>
                <a:ea typeface="Calibri"/>
              </a:rPr>
              <a:t>(1:1 with Account)</a:t>
            </a:r>
            <a:endParaRPr lang="en-US" sz="1050" b="0" u="none" strike="noStrike">
              <a:solidFill>
                <a:srgbClr val="000000"/>
              </a:solidFill>
              <a:effectLst/>
              <a:uFillTx/>
              <a:latin typeface="Arial"/>
            </a:endParaRPr>
          </a:p>
        </p:txBody>
      </p:sp>
      <p:sp>
        <p:nvSpPr>
          <p:cNvPr id="189" name="Shape 11"/>
          <p:cNvSpPr/>
          <p:nvPr/>
        </p:nvSpPr>
        <p:spPr>
          <a:xfrm>
            <a:off x="6108120" y="1463040"/>
            <a:ext cx="2559960" cy="2102760"/>
          </a:xfrm>
          <a:prstGeom prst="roundRect">
            <a:avLst>
              <a:gd name="adj" fmla="val 3043"/>
            </a:avLst>
          </a:prstGeom>
          <a:solidFill>
            <a:srgbClr val="EEF1F5"/>
          </a:solidFill>
          <a:ln w="12700">
            <a:solidFill>
              <a:srgbClr val="DADFE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0" name="Shape 12"/>
          <p:cNvSpPr/>
          <p:nvPr/>
        </p:nvSpPr>
        <p:spPr>
          <a:xfrm>
            <a:off x="6108120" y="1463040"/>
            <a:ext cx="2559960" cy="502560"/>
          </a:xfrm>
          <a:prstGeom prst="roundRect">
            <a:avLst>
              <a:gd name="adj" fmla="val 12727"/>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1" name="Shape 13"/>
          <p:cNvSpPr/>
          <p:nvPr/>
        </p:nvSpPr>
        <p:spPr>
          <a:xfrm>
            <a:off x="6108120" y="1719000"/>
            <a:ext cx="2559960" cy="246600"/>
          </a:xfrm>
          <a:prstGeom prst="rect">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2" name="Text 14"/>
          <p:cNvSpPr/>
          <p:nvPr/>
        </p:nvSpPr>
        <p:spPr>
          <a:xfrm>
            <a:off x="6108120" y="1463040"/>
            <a:ext cx="25599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Role</a:t>
            </a:r>
            <a:endParaRPr lang="en-US" sz="1300" b="0" u="none" strike="noStrike">
              <a:solidFill>
                <a:srgbClr val="000000"/>
              </a:solidFill>
              <a:effectLst/>
              <a:uFillTx/>
              <a:latin typeface="Arial"/>
            </a:endParaRPr>
          </a:p>
        </p:txBody>
      </p:sp>
      <p:sp>
        <p:nvSpPr>
          <p:cNvPr id="193" name="Text 15"/>
          <p:cNvSpPr/>
          <p:nvPr/>
        </p:nvSpPr>
        <p:spPr>
          <a:xfrm>
            <a:off x="6245280" y="2057400"/>
            <a:ext cx="228564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3B4453"/>
                </a:solidFill>
                <a:effectLst/>
                <a:uFillTx/>
                <a:latin typeface="Calibri"/>
                <a:ea typeface="Calibri"/>
              </a:rPr>
              <a:t>ADMIN / USER</a:t>
            </a:r>
            <a:endParaRPr lang="en-US" sz="105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3B4453"/>
                </a:solidFill>
                <a:effectLst/>
                <a:uFillTx/>
                <a:latin typeface="Calibri"/>
                <a:ea typeface="Calibri"/>
              </a:rPr>
              <a:t>(M:N with Account)</a:t>
            </a:r>
            <a:endParaRPr lang="en-US" sz="1050" b="0" u="none" strike="noStrike">
              <a:solidFill>
                <a:srgbClr val="000000"/>
              </a:solidFill>
              <a:effectLst/>
              <a:uFillTx/>
              <a:latin typeface="Arial"/>
            </a:endParaRPr>
          </a:p>
        </p:txBody>
      </p:sp>
      <p:sp>
        <p:nvSpPr>
          <p:cNvPr id="194" name="Shape 16"/>
          <p:cNvSpPr/>
          <p:nvPr/>
        </p:nvSpPr>
        <p:spPr>
          <a:xfrm>
            <a:off x="8888040" y="1463040"/>
            <a:ext cx="2559960" cy="2102760"/>
          </a:xfrm>
          <a:prstGeom prst="roundRect">
            <a:avLst>
              <a:gd name="adj" fmla="val 3043"/>
            </a:avLst>
          </a:prstGeom>
          <a:solidFill>
            <a:srgbClr val="EEF1F5"/>
          </a:solidFill>
          <a:ln w="12700">
            <a:solidFill>
              <a:srgbClr val="DADFE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5" name="Shape 17"/>
          <p:cNvSpPr/>
          <p:nvPr/>
        </p:nvSpPr>
        <p:spPr>
          <a:xfrm>
            <a:off x="8888040" y="1463040"/>
            <a:ext cx="2559960" cy="502560"/>
          </a:xfrm>
          <a:prstGeom prst="roundRect">
            <a:avLst>
              <a:gd name="adj" fmla="val 12727"/>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6" name="Shape 18"/>
          <p:cNvSpPr/>
          <p:nvPr/>
        </p:nvSpPr>
        <p:spPr>
          <a:xfrm>
            <a:off x="8888040" y="1719000"/>
            <a:ext cx="2559960" cy="246600"/>
          </a:xfrm>
          <a:prstGeom prst="rect">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7" name="Text 19"/>
          <p:cNvSpPr/>
          <p:nvPr/>
        </p:nvSpPr>
        <p:spPr>
          <a:xfrm>
            <a:off x="8888040" y="1463040"/>
            <a:ext cx="25599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Category</a:t>
            </a:r>
            <a:endParaRPr lang="en-US" sz="1300" b="0" u="none" strike="noStrike">
              <a:solidFill>
                <a:srgbClr val="000000"/>
              </a:solidFill>
              <a:effectLst/>
              <a:uFillTx/>
              <a:latin typeface="Arial"/>
            </a:endParaRPr>
          </a:p>
        </p:txBody>
      </p:sp>
      <p:sp>
        <p:nvSpPr>
          <p:cNvPr id="198" name="Text 20"/>
          <p:cNvSpPr/>
          <p:nvPr/>
        </p:nvSpPr>
        <p:spPr>
          <a:xfrm>
            <a:off x="9025200" y="2057400"/>
            <a:ext cx="228564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3B4453"/>
                </a:solidFill>
                <a:effectLst/>
                <a:uFillTx/>
                <a:latin typeface="Calibri"/>
                <a:ea typeface="Calibri"/>
              </a:rPr>
              <a:t>name, logo, flag</a:t>
            </a:r>
            <a:endParaRPr lang="en-US" sz="105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3B4453"/>
                </a:solidFill>
                <a:effectLst/>
                <a:uFillTx/>
                <a:latin typeface="Calibri"/>
                <a:ea typeface="Calibri"/>
              </a:rPr>
              <a:t>→ has many Products</a:t>
            </a:r>
            <a:endParaRPr lang="en-US" sz="1050" b="0" u="none" strike="noStrike">
              <a:solidFill>
                <a:srgbClr val="000000"/>
              </a:solidFill>
              <a:effectLst/>
              <a:uFillTx/>
              <a:latin typeface="Arial"/>
            </a:endParaRPr>
          </a:p>
        </p:txBody>
      </p:sp>
      <p:sp>
        <p:nvSpPr>
          <p:cNvPr id="199" name="Shape 21"/>
          <p:cNvSpPr/>
          <p:nvPr/>
        </p:nvSpPr>
        <p:spPr>
          <a:xfrm>
            <a:off x="548640" y="3794760"/>
            <a:ext cx="2559960" cy="2102760"/>
          </a:xfrm>
          <a:prstGeom prst="roundRect">
            <a:avLst>
              <a:gd name="adj" fmla="val 3043"/>
            </a:avLst>
          </a:prstGeom>
          <a:solidFill>
            <a:srgbClr val="EEF1F5"/>
          </a:solidFill>
          <a:ln w="12700">
            <a:solidFill>
              <a:srgbClr val="DADFE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0" name="Shape 22"/>
          <p:cNvSpPr/>
          <p:nvPr/>
        </p:nvSpPr>
        <p:spPr>
          <a:xfrm>
            <a:off x="548640" y="3794760"/>
            <a:ext cx="2559960" cy="502560"/>
          </a:xfrm>
          <a:prstGeom prst="roundRect">
            <a:avLst>
              <a:gd name="adj" fmla="val 12727"/>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1" name="Shape 23"/>
          <p:cNvSpPr/>
          <p:nvPr/>
        </p:nvSpPr>
        <p:spPr>
          <a:xfrm>
            <a:off x="548640" y="4050720"/>
            <a:ext cx="2559960" cy="246600"/>
          </a:xfrm>
          <a:prstGeom prst="rect">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2" name="Text 24"/>
          <p:cNvSpPr/>
          <p:nvPr/>
        </p:nvSpPr>
        <p:spPr>
          <a:xfrm>
            <a:off x="548640" y="3794760"/>
            <a:ext cx="25599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Product</a:t>
            </a:r>
            <a:endParaRPr lang="en-US" sz="1300" b="0" u="none" strike="noStrike">
              <a:solidFill>
                <a:srgbClr val="000000"/>
              </a:solidFill>
              <a:effectLst/>
              <a:uFillTx/>
              <a:latin typeface="Arial"/>
            </a:endParaRPr>
          </a:p>
        </p:txBody>
      </p:sp>
      <p:sp>
        <p:nvSpPr>
          <p:cNvPr id="203" name="Text 25"/>
          <p:cNvSpPr/>
          <p:nvPr/>
        </p:nvSpPr>
        <p:spPr>
          <a:xfrm>
            <a:off x="685800" y="4389120"/>
            <a:ext cx="228564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3B4453"/>
                </a:solidFill>
                <a:effectLst/>
                <a:uFillTx/>
                <a:latin typeface="Calibri"/>
                <a:ea typeface="Calibri"/>
              </a:rPr>
              <a:t>name, price, description</a:t>
            </a:r>
            <a:endParaRPr lang="en-US" sz="105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3B4453"/>
                </a:solidFill>
                <a:effectLst/>
                <a:uFillTx/>
                <a:latin typeface="Calibri"/>
                <a:ea typeface="Calibri"/>
              </a:rPr>
              <a:t>→ belongs to a Category</a:t>
            </a:r>
            <a:endParaRPr lang="en-US" sz="1050" b="0" u="none" strike="noStrike">
              <a:solidFill>
                <a:srgbClr val="000000"/>
              </a:solidFill>
              <a:effectLst/>
              <a:uFillTx/>
              <a:latin typeface="Arial"/>
            </a:endParaRPr>
          </a:p>
        </p:txBody>
      </p:sp>
      <p:sp>
        <p:nvSpPr>
          <p:cNvPr id="204" name="Shape 26"/>
          <p:cNvSpPr/>
          <p:nvPr/>
        </p:nvSpPr>
        <p:spPr>
          <a:xfrm>
            <a:off x="3328560" y="3794760"/>
            <a:ext cx="2559960" cy="2102760"/>
          </a:xfrm>
          <a:prstGeom prst="roundRect">
            <a:avLst>
              <a:gd name="adj" fmla="val 3043"/>
            </a:avLst>
          </a:prstGeom>
          <a:solidFill>
            <a:srgbClr val="EEF1F5"/>
          </a:solidFill>
          <a:ln w="12700">
            <a:solidFill>
              <a:srgbClr val="DADFE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5" name="Shape 27"/>
          <p:cNvSpPr/>
          <p:nvPr/>
        </p:nvSpPr>
        <p:spPr>
          <a:xfrm>
            <a:off x="3328560" y="3794760"/>
            <a:ext cx="2559960" cy="502560"/>
          </a:xfrm>
          <a:prstGeom prst="roundRect">
            <a:avLst>
              <a:gd name="adj" fmla="val 12727"/>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6" name="Shape 28"/>
          <p:cNvSpPr/>
          <p:nvPr/>
        </p:nvSpPr>
        <p:spPr>
          <a:xfrm>
            <a:off x="3328560" y="4050720"/>
            <a:ext cx="2559960" cy="246600"/>
          </a:xfrm>
          <a:prstGeom prst="rect">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7" name="Text 29"/>
          <p:cNvSpPr/>
          <p:nvPr/>
        </p:nvSpPr>
        <p:spPr>
          <a:xfrm>
            <a:off x="3328560" y="3794760"/>
            <a:ext cx="25599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Order</a:t>
            </a:r>
            <a:endParaRPr lang="en-US" sz="1300" b="0" u="none" strike="noStrike">
              <a:solidFill>
                <a:srgbClr val="000000"/>
              </a:solidFill>
              <a:effectLst/>
              <a:uFillTx/>
              <a:latin typeface="Arial"/>
            </a:endParaRPr>
          </a:p>
        </p:txBody>
      </p:sp>
      <p:sp>
        <p:nvSpPr>
          <p:cNvPr id="208" name="Text 30"/>
          <p:cNvSpPr/>
          <p:nvPr/>
        </p:nvSpPr>
        <p:spPr>
          <a:xfrm>
            <a:off x="3465720" y="4389120"/>
            <a:ext cx="228564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3B4453"/>
                </a:solidFill>
                <a:effectLst/>
                <a:uFillTx/>
                <a:latin typeface="Calibri"/>
                <a:ea typeface="Calibri"/>
              </a:rPr>
              <a:t>code, totalPrice, totalNumber</a:t>
            </a:r>
            <a:endParaRPr lang="en-US" sz="105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3B4453"/>
                </a:solidFill>
                <a:effectLst/>
                <a:uFillTx/>
                <a:latin typeface="Calibri"/>
                <a:ea typeface="Calibri"/>
              </a:rPr>
              <a:t>→ Account, Products (M:N)</a:t>
            </a:r>
            <a:endParaRPr lang="en-US" sz="1050" b="0" u="none" strike="noStrike">
              <a:solidFill>
                <a:srgbClr val="000000"/>
              </a:solidFill>
              <a:effectLst/>
              <a:uFillTx/>
              <a:latin typeface="Arial"/>
            </a:endParaRPr>
          </a:p>
        </p:txBody>
      </p:sp>
      <p:sp>
        <p:nvSpPr>
          <p:cNvPr id="209" name="Shape 31"/>
          <p:cNvSpPr/>
          <p:nvPr/>
        </p:nvSpPr>
        <p:spPr>
          <a:xfrm>
            <a:off x="6108120" y="3794760"/>
            <a:ext cx="2559960" cy="2102760"/>
          </a:xfrm>
          <a:prstGeom prst="roundRect">
            <a:avLst>
              <a:gd name="adj" fmla="val 3043"/>
            </a:avLst>
          </a:prstGeom>
          <a:solidFill>
            <a:srgbClr val="EEF1F5"/>
          </a:solidFill>
          <a:ln w="12700">
            <a:solidFill>
              <a:srgbClr val="DADFE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0" name="Shape 32"/>
          <p:cNvSpPr/>
          <p:nvPr/>
        </p:nvSpPr>
        <p:spPr>
          <a:xfrm>
            <a:off x="6108120" y="3794760"/>
            <a:ext cx="2559960" cy="502560"/>
          </a:xfrm>
          <a:prstGeom prst="roundRect">
            <a:avLst>
              <a:gd name="adj" fmla="val 12727"/>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1" name="Shape 33"/>
          <p:cNvSpPr/>
          <p:nvPr/>
        </p:nvSpPr>
        <p:spPr>
          <a:xfrm>
            <a:off x="6108120" y="4050720"/>
            <a:ext cx="2559960" cy="246600"/>
          </a:xfrm>
          <a:prstGeom prst="rect">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2" name="Text 34"/>
          <p:cNvSpPr/>
          <p:nvPr/>
        </p:nvSpPr>
        <p:spPr>
          <a:xfrm>
            <a:off x="6108120" y="3794760"/>
            <a:ext cx="25599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ContactInfo</a:t>
            </a:r>
            <a:endParaRPr lang="en-US" sz="1300" b="0" u="none" strike="noStrike">
              <a:solidFill>
                <a:srgbClr val="000000"/>
              </a:solidFill>
              <a:effectLst/>
              <a:uFillTx/>
              <a:latin typeface="Arial"/>
            </a:endParaRPr>
          </a:p>
        </p:txBody>
      </p:sp>
      <p:sp>
        <p:nvSpPr>
          <p:cNvPr id="213" name="Text 35"/>
          <p:cNvSpPr/>
          <p:nvPr/>
        </p:nvSpPr>
        <p:spPr>
          <a:xfrm>
            <a:off x="6245280" y="4389120"/>
            <a:ext cx="228564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3B4453"/>
                </a:solidFill>
                <a:effectLst/>
                <a:uFillTx/>
                <a:latin typeface="Calibri"/>
                <a:ea typeface="Calibri"/>
              </a:rPr>
              <a:t>subject, message, adminReply,</a:t>
            </a:r>
            <a:endParaRPr lang="en-US" sz="105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3B4453"/>
                </a:solidFill>
                <a:effectLst/>
                <a:uFillTx/>
                <a:latin typeface="Calibri"/>
                <a:ea typeface="Calibri"/>
              </a:rPr>
              <a:t>isRead / isReplied</a:t>
            </a:r>
            <a:endParaRPr lang="en-US" sz="1050" b="0" u="none" strike="noStrike">
              <a:solidFill>
                <a:srgbClr val="000000"/>
              </a:solidFill>
              <a:effectLst/>
              <a:uFillTx/>
              <a:latin typeface="Arial"/>
            </a:endParaRPr>
          </a:p>
        </p:txBody>
      </p:sp>
      <p:sp>
        <p:nvSpPr>
          <p:cNvPr id="214" name="Shape 36"/>
          <p:cNvSpPr/>
          <p:nvPr/>
        </p:nvSpPr>
        <p:spPr>
          <a:xfrm>
            <a:off x="8888040" y="3794760"/>
            <a:ext cx="2559960" cy="2102760"/>
          </a:xfrm>
          <a:prstGeom prst="roundRect">
            <a:avLst>
              <a:gd name="adj" fmla="val 3043"/>
            </a:avLst>
          </a:prstGeom>
          <a:solidFill>
            <a:srgbClr val="EEF1F5"/>
          </a:solidFill>
          <a:ln w="12700">
            <a:solidFill>
              <a:srgbClr val="DADFE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5" name="Shape 37"/>
          <p:cNvSpPr/>
          <p:nvPr/>
        </p:nvSpPr>
        <p:spPr>
          <a:xfrm>
            <a:off x="8888040" y="3794760"/>
            <a:ext cx="2559960" cy="502560"/>
          </a:xfrm>
          <a:prstGeom prst="roundRect">
            <a:avLst>
              <a:gd name="adj" fmla="val 12727"/>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6" name="Shape 38"/>
          <p:cNvSpPr/>
          <p:nvPr/>
        </p:nvSpPr>
        <p:spPr>
          <a:xfrm>
            <a:off x="8888040" y="4050720"/>
            <a:ext cx="2559960" cy="246600"/>
          </a:xfrm>
          <a:prstGeom prst="rect">
            <a:avLst/>
          </a:prstGeom>
          <a:solidFill>
            <a:srgbClr val="0F172B"/>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7" name="Text 39"/>
          <p:cNvSpPr/>
          <p:nvPr/>
        </p:nvSpPr>
        <p:spPr>
          <a:xfrm>
            <a:off x="8888040" y="3794760"/>
            <a:ext cx="25599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Chef</a:t>
            </a:r>
            <a:endParaRPr lang="en-US" sz="1300" b="0" u="none" strike="noStrike">
              <a:solidFill>
                <a:srgbClr val="000000"/>
              </a:solidFill>
              <a:effectLst/>
              <a:uFillTx/>
              <a:latin typeface="Arial"/>
            </a:endParaRPr>
          </a:p>
        </p:txBody>
      </p:sp>
      <p:sp>
        <p:nvSpPr>
          <p:cNvPr id="218" name="Text 40"/>
          <p:cNvSpPr/>
          <p:nvPr/>
        </p:nvSpPr>
        <p:spPr>
          <a:xfrm>
            <a:off x="9025200" y="4389120"/>
            <a:ext cx="2285640" cy="1371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3B4453"/>
                </a:solidFill>
                <a:effectLst/>
                <a:uFillTx/>
                <a:latin typeface="Calibri"/>
                <a:ea typeface="Calibri"/>
              </a:rPr>
              <a:t>name, specialty,</a:t>
            </a:r>
            <a:endParaRPr lang="en-US" sz="1050" b="0" u="none" strike="noStrike">
              <a:solidFill>
                <a:srgbClr val="000000"/>
              </a:solidFill>
              <a:effectLst/>
              <a:uFillTx/>
              <a:latin typeface="Arial"/>
            </a:endParaRPr>
          </a:p>
          <a:p>
            <a:pPr defTabSz="914400">
              <a:lnSpc>
                <a:spcPct val="100000"/>
              </a:lnSpc>
              <a:tabLst>
                <a:tab pos="0" algn="l"/>
              </a:tabLst>
            </a:pPr>
            <a:r>
              <a:rPr lang="en-US" sz="1050" b="0" u="none" strike="noStrike">
                <a:solidFill>
                  <a:srgbClr val="3B4453"/>
                </a:solidFill>
                <a:effectLst/>
                <a:uFillTx/>
                <a:latin typeface="Calibri"/>
                <a:ea typeface="Calibri"/>
              </a:rPr>
              <a:t>social links (standalone)</a:t>
            </a:r>
            <a:endParaRPr lang="en-US" sz="1050" b="0" u="none" strike="noStrike">
              <a:solidFill>
                <a:srgbClr val="000000"/>
              </a:solidFill>
              <a:effectLst/>
              <a:uFillTx/>
              <a:latin typeface="Arial"/>
            </a:endParaRPr>
          </a:p>
        </p:txBody>
      </p:sp>
      <p:sp>
        <p:nvSpPr>
          <p:cNvPr id="219" name="Text 41"/>
          <p:cNvSpPr/>
          <p:nvPr/>
        </p:nvSpPr>
        <p:spPr>
          <a:xfrm>
            <a:off x="548640" y="647388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7AEB8"/>
                </a:solidFill>
                <a:effectLst/>
                <a:uFillTx/>
                <a:latin typeface="Calibri"/>
                <a:ea typeface="Calibri"/>
              </a:rPr>
              <a:t>Restaurant 905</a:t>
            </a:r>
            <a:endParaRPr lang="en-US" sz="900" b="0" u="none" strike="noStrike">
              <a:solidFill>
                <a:srgbClr val="000000"/>
              </a:solidFill>
              <a:effectLst/>
              <a:uFillTx/>
              <a:latin typeface="Arial"/>
            </a:endParaRPr>
          </a:p>
        </p:txBody>
      </p:sp>
      <p:sp>
        <p:nvSpPr>
          <p:cNvPr id="220" name="Text 42"/>
          <p:cNvSpPr/>
          <p:nvPr/>
        </p:nvSpPr>
        <p:spPr>
          <a:xfrm>
            <a:off x="11091600" y="6473880"/>
            <a:ext cx="5482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A7AEB8"/>
                </a:solidFill>
                <a:effectLst/>
                <a:uFillTx/>
                <a:latin typeface="Calibri"/>
                <a:ea typeface="Calibri"/>
              </a:rPr>
              <a:t>10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1" name="Text 0"/>
          <p:cNvSpPr/>
          <p:nvPr/>
        </p:nvSpPr>
        <p:spPr>
          <a:xfrm>
            <a:off x="548640" y="41148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0F172B"/>
                </a:solidFill>
                <a:effectLst/>
                <a:uFillTx/>
                <a:latin typeface="Cambria"/>
                <a:ea typeface="Cambria"/>
              </a:rPr>
              <a:t>Screenshots</a:t>
            </a:r>
            <a:endParaRPr lang="en-US" sz="3000" b="0" u="none" strike="noStrike">
              <a:solidFill>
                <a:srgbClr val="000000"/>
              </a:solidFill>
              <a:effectLst/>
              <a:uFillTx/>
              <a:latin typeface="Arial"/>
            </a:endParaRPr>
          </a:p>
        </p:txBody>
      </p:sp>
      <p:sp>
        <p:nvSpPr>
          <p:cNvPr id="222" name="Text 1"/>
          <p:cNvSpPr/>
          <p:nvPr/>
        </p:nvSpPr>
        <p:spPr>
          <a:xfrm>
            <a:off x="548640" y="1051560"/>
            <a:ext cx="110912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B7480"/>
                </a:solidFill>
                <a:effectLst/>
                <a:uFillTx/>
                <a:latin typeface="Calibri"/>
                <a:ea typeface="Calibri"/>
              </a:rPr>
              <a:t>Replace each placeholder below with an actual screenshot</a:t>
            </a:r>
            <a:endParaRPr lang="en-US" sz="1400" b="0" u="none" strike="noStrike">
              <a:solidFill>
                <a:srgbClr val="000000"/>
              </a:solidFill>
              <a:effectLst/>
              <a:uFillTx/>
              <a:latin typeface="Arial"/>
            </a:endParaRPr>
          </a:p>
        </p:txBody>
      </p:sp>
      <p:sp>
        <p:nvSpPr>
          <p:cNvPr id="223" name="Shape 2"/>
          <p:cNvSpPr/>
          <p:nvPr/>
        </p:nvSpPr>
        <p:spPr>
          <a:xfrm>
            <a:off x="548640" y="1600200"/>
            <a:ext cx="5166000" cy="1965600"/>
          </a:xfrm>
          <a:prstGeom prst="roundRect">
            <a:avLst>
              <a:gd name="adj" fmla="val 2791"/>
            </a:avLst>
          </a:prstGeom>
          <a:solidFill>
            <a:srgbClr val="FAFBFC"/>
          </a:solidFill>
          <a:ln w="19050">
            <a:solidFill>
              <a:srgbClr val="C7CEDA"/>
            </a:solidFill>
            <a:prstDash val="dash"/>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4" name="Text 4"/>
          <p:cNvSpPr/>
          <p:nvPr/>
        </p:nvSpPr>
        <p:spPr>
          <a:xfrm>
            <a:off x="548640" y="3620880"/>
            <a:ext cx="516600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0F172B"/>
                </a:solidFill>
                <a:effectLst/>
                <a:uFillTx/>
                <a:latin typeface="Calibri"/>
                <a:ea typeface="Calibri"/>
              </a:rPr>
              <a:t>Home / Product Listing</a:t>
            </a:r>
            <a:endParaRPr lang="en-US" sz="1250" b="0" u="none" strike="noStrike">
              <a:solidFill>
                <a:srgbClr val="000000"/>
              </a:solidFill>
              <a:effectLst/>
              <a:uFillTx/>
              <a:latin typeface="Arial"/>
            </a:endParaRPr>
          </a:p>
        </p:txBody>
      </p:sp>
      <p:sp>
        <p:nvSpPr>
          <p:cNvPr id="225" name="Shape 5"/>
          <p:cNvSpPr/>
          <p:nvPr/>
        </p:nvSpPr>
        <p:spPr>
          <a:xfrm>
            <a:off x="6080760" y="1600200"/>
            <a:ext cx="5166000" cy="1965600"/>
          </a:xfrm>
          <a:prstGeom prst="roundRect">
            <a:avLst>
              <a:gd name="adj" fmla="val 2791"/>
            </a:avLst>
          </a:prstGeom>
          <a:solidFill>
            <a:srgbClr val="FAFBFC"/>
          </a:solidFill>
          <a:ln w="19050">
            <a:solidFill>
              <a:srgbClr val="C7CEDA"/>
            </a:solidFill>
            <a:prstDash val="dash"/>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6" name="Text 7"/>
          <p:cNvSpPr/>
          <p:nvPr/>
        </p:nvSpPr>
        <p:spPr>
          <a:xfrm>
            <a:off x="6080760" y="3620880"/>
            <a:ext cx="516600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0F172B"/>
                </a:solidFill>
                <a:effectLst/>
                <a:uFillTx/>
                <a:latin typeface="Calibri"/>
                <a:ea typeface="Calibri"/>
              </a:rPr>
              <a:t>Cart &amp; Checkout</a:t>
            </a:r>
            <a:endParaRPr lang="en-US" sz="1250" b="0" u="none" strike="noStrike">
              <a:solidFill>
                <a:srgbClr val="000000"/>
              </a:solidFill>
              <a:effectLst/>
              <a:uFillTx/>
              <a:latin typeface="Arial"/>
            </a:endParaRPr>
          </a:p>
        </p:txBody>
      </p:sp>
      <p:sp>
        <p:nvSpPr>
          <p:cNvPr id="227" name="Shape 8"/>
          <p:cNvSpPr/>
          <p:nvPr/>
        </p:nvSpPr>
        <p:spPr>
          <a:xfrm>
            <a:off x="548640" y="4023360"/>
            <a:ext cx="5166000" cy="1965600"/>
          </a:xfrm>
          <a:prstGeom prst="roundRect">
            <a:avLst>
              <a:gd name="adj" fmla="val 2791"/>
            </a:avLst>
          </a:prstGeom>
          <a:solidFill>
            <a:srgbClr val="FAFBFC"/>
          </a:solidFill>
          <a:ln w="19050">
            <a:solidFill>
              <a:srgbClr val="C7CEDA"/>
            </a:solidFill>
            <a:prstDash val="dash"/>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8" name="Text 10"/>
          <p:cNvSpPr/>
          <p:nvPr/>
        </p:nvSpPr>
        <p:spPr>
          <a:xfrm>
            <a:off x="548640" y="6044040"/>
            <a:ext cx="516600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0F172B"/>
                </a:solidFill>
                <a:effectLst/>
                <a:uFillTx/>
                <a:latin typeface="Calibri"/>
                <a:ea typeface="Calibri"/>
              </a:rPr>
              <a:t>Login / Signup</a:t>
            </a:r>
            <a:endParaRPr lang="en-US" sz="1250" b="0" u="none" strike="noStrike">
              <a:solidFill>
                <a:srgbClr val="000000"/>
              </a:solidFill>
              <a:effectLst/>
              <a:uFillTx/>
              <a:latin typeface="Arial"/>
            </a:endParaRPr>
          </a:p>
        </p:txBody>
      </p:sp>
      <p:sp>
        <p:nvSpPr>
          <p:cNvPr id="229" name="Text 12"/>
          <p:cNvSpPr/>
          <p:nvPr/>
        </p:nvSpPr>
        <p:spPr>
          <a:xfrm>
            <a:off x="6080760" y="4023360"/>
            <a:ext cx="5166000" cy="196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i="1" u="none" strike="noStrike">
                <a:solidFill>
                  <a:srgbClr val="AAB2BE"/>
                </a:solidFill>
                <a:effectLst/>
                <a:uFillTx/>
                <a:latin typeface="Calibri"/>
                <a:ea typeface="Calibri"/>
              </a:rPr>
              <a:t>[ Add screenshot here ]</a:t>
            </a:r>
            <a:endParaRPr lang="en-US" sz="1300" b="0" u="none" strike="noStrike">
              <a:solidFill>
                <a:srgbClr val="000000"/>
              </a:solidFill>
              <a:effectLst/>
              <a:uFillTx/>
              <a:latin typeface="Arial"/>
            </a:endParaRPr>
          </a:p>
        </p:txBody>
      </p:sp>
      <p:sp>
        <p:nvSpPr>
          <p:cNvPr id="230" name="Text 13"/>
          <p:cNvSpPr/>
          <p:nvPr/>
        </p:nvSpPr>
        <p:spPr>
          <a:xfrm>
            <a:off x="6080760" y="6044040"/>
            <a:ext cx="516600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0F172B"/>
                </a:solidFill>
                <a:effectLst/>
                <a:uFillTx/>
                <a:latin typeface="Calibri"/>
                <a:ea typeface="Calibri"/>
              </a:rPr>
              <a:t>Admin Dashboard</a:t>
            </a:r>
            <a:endParaRPr lang="en-US" sz="1250" b="0" u="none" strike="noStrike">
              <a:solidFill>
                <a:srgbClr val="000000"/>
              </a:solidFill>
              <a:effectLst/>
              <a:uFillTx/>
              <a:latin typeface="Arial"/>
            </a:endParaRPr>
          </a:p>
        </p:txBody>
      </p:sp>
      <p:sp>
        <p:nvSpPr>
          <p:cNvPr id="231" name="Text 14"/>
          <p:cNvSpPr/>
          <p:nvPr/>
        </p:nvSpPr>
        <p:spPr>
          <a:xfrm>
            <a:off x="548640" y="6473880"/>
            <a:ext cx="3657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A7AEB8"/>
                </a:solidFill>
                <a:effectLst/>
                <a:uFillTx/>
                <a:latin typeface="Calibri"/>
                <a:ea typeface="Calibri"/>
              </a:rPr>
              <a:t>Restaurant 905</a:t>
            </a:r>
            <a:endParaRPr lang="en-US" sz="900" b="0" u="none" strike="noStrike">
              <a:solidFill>
                <a:srgbClr val="000000"/>
              </a:solidFill>
              <a:effectLst/>
              <a:uFillTx/>
              <a:latin typeface="Arial"/>
            </a:endParaRPr>
          </a:p>
        </p:txBody>
      </p:sp>
      <p:sp>
        <p:nvSpPr>
          <p:cNvPr id="232" name="Text 15"/>
          <p:cNvSpPr/>
          <p:nvPr/>
        </p:nvSpPr>
        <p:spPr>
          <a:xfrm>
            <a:off x="11091600" y="6473880"/>
            <a:ext cx="54828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A7AEB8"/>
                </a:solidFill>
                <a:effectLst/>
                <a:uFillTx/>
                <a:latin typeface="Calibri"/>
                <a:ea typeface="Calibri"/>
              </a:rPr>
              <a:t>11</a:t>
            </a:r>
            <a:endParaRPr lang="en-US" sz="900" b="0" u="none" strike="noStrike">
              <a:solidFill>
                <a:srgbClr val="000000"/>
              </a:solidFill>
              <a:effectLst/>
              <a:uFillTx/>
              <a:latin typeface="Arial"/>
            </a:endParaRPr>
          </a:p>
        </p:txBody>
      </p:sp>
      <p:pic>
        <p:nvPicPr>
          <p:cNvPr id="233" name=""/>
          <p:cNvPicPr/>
          <p:nvPr/>
        </p:nvPicPr>
        <p:blipFill>
          <a:blip r:embed="rId1"/>
          <a:stretch/>
        </p:blipFill>
        <p:spPr>
          <a:xfrm>
            <a:off x="528120" y="1600200"/>
            <a:ext cx="5186520" cy="2020680"/>
          </a:xfrm>
          <a:prstGeom prst="rect">
            <a:avLst/>
          </a:prstGeom>
          <a:noFill/>
          <a:ln w="0">
            <a:noFill/>
          </a:ln>
        </p:spPr>
      </p:pic>
      <p:pic>
        <p:nvPicPr>
          <p:cNvPr id="234" name=""/>
          <p:cNvPicPr/>
          <p:nvPr/>
        </p:nvPicPr>
        <p:blipFill>
          <a:blip r:embed="rId2"/>
          <a:stretch/>
        </p:blipFill>
        <p:spPr>
          <a:xfrm>
            <a:off x="6080760" y="1600200"/>
            <a:ext cx="5166360" cy="1965960"/>
          </a:xfrm>
          <a:prstGeom prst="rect">
            <a:avLst/>
          </a:prstGeom>
          <a:noFill/>
          <a:ln w="0">
            <a:noFill/>
          </a:ln>
        </p:spPr>
      </p:pic>
      <p:pic>
        <p:nvPicPr>
          <p:cNvPr id="235" name=""/>
          <p:cNvPicPr/>
          <p:nvPr/>
        </p:nvPicPr>
        <p:blipFill>
          <a:blip r:embed="rId3"/>
          <a:stretch/>
        </p:blipFill>
        <p:spPr>
          <a:xfrm>
            <a:off x="6071040" y="4013640"/>
            <a:ext cx="5185800" cy="1985760"/>
          </a:xfrm>
          <a:prstGeom prst="rect">
            <a:avLst/>
          </a:prstGeom>
          <a:noFill/>
          <a:ln w="0">
            <a:noFill/>
          </a:ln>
        </p:spPr>
      </p:pic>
      <p:pic>
        <p:nvPicPr>
          <p:cNvPr id="236" name=""/>
          <p:cNvPicPr/>
          <p:nvPr/>
        </p:nvPicPr>
        <p:blipFill>
          <a:blip r:embed="rId4"/>
          <a:stretch/>
        </p:blipFill>
        <p:spPr>
          <a:xfrm>
            <a:off x="548640" y="4023360"/>
            <a:ext cx="5166000" cy="196560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B"/>
        </a:solidFill>
      </p:bgPr>
    </p:bg>
    <p:spTree>
      <p:nvGrpSpPr>
        <p:cNvPr id="1" name=""/>
        <p:cNvGrpSpPr/>
        <p:nvPr/>
      </p:nvGrpSpPr>
      <p:grpSpPr>
        <a:xfrm>
          <a:off x="0" y="0"/>
          <a:ext cx="0" cy="0"/>
          <a:chOff x="0" y="0"/>
          <a:chExt cx="0" cy="0"/>
        </a:xfrm>
      </p:grpSpPr>
      <p:sp>
        <p:nvSpPr>
          <p:cNvPr id="237" name="Shape 0"/>
          <p:cNvSpPr/>
          <p:nvPr/>
        </p:nvSpPr>
        <p:spPr>
          <a:xfrm>
            <a:off x="-1463040" y="-1645920"/>
            <a:ext cx="4205880" cy="4205880"/>
          </a:xfrm>
          <a:prstGeom prst="ellipse">
            <a:avLst/>
          </a:prstGeom>
          <a:solidFill>
            <a:srgbClr val="FEA116">
              <a:alpha val="12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8" name="Shape 1"/>
          <p:cNvSpPr/>
          <p:nvPr/>
        </p:nvSpPr>
        <p:spPr>
          <a:xfrm>
            <a:off x="9692640" y="4937760"/>
            <a:ext cx="3291480" cy="3291480"/>
          </a:xfrm>
          <a:prstGeom prst="ellipse">
            <a:avLst/>
          </a:prstGeom>
          <a:solidFill>
            <a:srgbClr val="FFFFFF">
              <a:alpha val="7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9" name="Text 2"/>
          <p:cNvSpPr/>
          <p:nvPr/>
        </p:nvSpPr>
        <p:spPr>
          <a:xfrm>
            <a:off x="822960" y="2468880"/>
            <a:ext cx="1051524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200" b="1" u="none" strike="noStrike">
                <a:solidFill>
                  <a:srgbClr val="FFFFFF"/>
                </a:solidFill>
                <a:effectLst/>
                <a:uFillTx/>
                <a:latin typeface="Cambria"/>
                <a:ea typeface="Cambria"/>
              </a:rPr>
              <a:t>Thank You</a:t>
            </a:r>
            <a:endParaRPr lang="en-US" sz="4200" b="0" u="none" strike="noStrike">
              <a:solidFill>
                <a:srgbClr val="FFFFFF"/>
              </a:solidFill>
              <a:effectLst/>
              <a:uFillTx/>
              <a:latin typeface="Arial"/>
            </a:endParaRPr>
          </a:p>
        </p:txBody>
      </p:sp>
      <p:sp>
        <p:nvSpPr>
          <p:cNvPr id="240" name="Text 3"/>
          <p:cNvSpPr/>
          <p:nvPr/>
        </p:nvSpPr>
        <p:spPr>
          <a:xfrm>
            <a:off x="822960" y="3429000"/>
            <a:ext cx="10515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FEA116"/>
                </a:solidFill>
                <a:effectLst/>
                <a:uFillTx/>
                <a:latin typeface="Calibri"/>
                <a:ea typeface="Calibri"/>
              </a:rPr>
              <a:t>Restaurant 905 — Java Backend Diploma Project</a:t>
            </a:r>
            <a:endParaRPr lang="en-US" sz="1700" b="0" u="none" strike="noStrike">
              <a:solidFill>
                <a:srgbClr val="FFFFFF"/>
              </a:solidFill>
              <a:effectLst/>
              <a:uFillTx/>
              <a:latin typeface="Arial"/>
            </a:endParaRPr>
          </a:p>
        </p:txBody>
      </p:sp>
      <p:sp>
        <p:nvSpPr>
          <p:cNvPr id="241" name="Text 4"/>
          <p:cNvSpPr/>
          <p:nvPr/>
        </p:nvSpPr>
        <p:spPr>
          <a:xfrm>
            <a:off x="822960" y="4114800"/>
            <a:ext cx="105152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C7CEDA"/>
                </a:solidFill>
                <a:effectLst/>
                <a:uFillTx/>
                <a:latin typeface="Calibri"/>
                <a:ea typeface="Calibri"/>
              </a:rPr>
              <a:t>GitHub Repository: [https://github.com/mohamed-magdy-dev/Final-project-905-Restaurant-App.git ]</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TotalTime>
  <Application>LibreOffice/26.2.5.2$Windows_X86_64 LibreOffice_project/cd7284b4cbbfeb507e630c1aac019f4157393acb</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2026-09-09T20:38:16Z</dcterms:created>
  <dc:creator>PptxGenJS</dc:creator>
  <dc:description/>
  <dc:language>ar-EG</dc:language>
  <cp:lastModifiedBy/>
  <dcterms:modified xsi:type="dcterms:W3CDTF">2026-09-10T00:00:19Z</dcterms:modified>
  <cp:revision>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12</vt:i4>
  </property>
  <property fmtid="{D5CDD505-2E9C-101B-9397-08002B2CF9AE}" pid="3" name="PresentationFormat">
    <vt:lpwstr>On-screen Show (16:9)</vt:lpwstr>
  </property>
  <property fmtid="{D5CDD505-2E9C-101B-9397-08002B2CF9AE}" pid="4" name="Slides">
    <vt:i4>12</vt:i4>
  </property>
</Properties>
</file>